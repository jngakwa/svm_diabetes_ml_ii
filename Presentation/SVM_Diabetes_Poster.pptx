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26" autoAdjust="0"/>
  </p:normalViewPr>
  <p:slideViewPr>
    <p:cSldViewPr snapToGrid="0">
      <p:cViewPr>
        <p:scale>
          <a:sx n="33" d="100"/>
          <a:sy n="33" d="100"/>
        </p:scale>
        <p:origin x="366" y="-300"/>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Gakwa" userId="a4f1aca622b7df0e" providerId="LiveId" clId="{9E5129BE-3D0A-40E2-A03E-40751DB1CB99}"/>
    <pc:docChg chg="modSld">
      <pc:chgData name="John Gakwa" userId="a4f1aca622b7df0e" providerId="LiveId" clId="{9E5129BE-3D0A-40E2-A03E-40751DB1CB99}" dt="2026-05-07T01:22:59.858" v="198" actId="20577"/>
      <pc:docMkLst>
        <pc:docMk/>
      </pc:docMkLst>
      <pc:sldChg chg="modSp mod">
        <pc:chgData name="John Gakwa" userId="a4f1aca622b7df0e" providerId="LiveId" clId="{9E5129BE-3D0A-40E2-A03E-40751DB1CB99}" dt="2026-05-07T01:22:59.858" v="198" actId="20577"/>
        <pc:sldMkLst>
          <pc:docMk/>
          <pc:sldMk cId="0" sldId="256"/>
        </pc:sldMkLst>
        <pc:spChg chg="mod">
          <ac:chgData name="John Gakwa" userId="a4f1aca622b7df0e" providerId="LiveId" clId="{9E5129BE-3D0A-40E2-A03E-40751DB1CB99}" dt="2026-05-07T01:22:59.858" v="198" actId="20577"/>
          <ac:spMkLst>
            <pc:docMk/>
            <pc:sldMk cId="0" sldId="256"/>
            <ac:spMk id="38" creationId="{00000000-0000-0000-0000-000000000000}"/>
          </ac:spMkLst>
        </pc:spChg>
        <pc:spChg chg="mod">
          <ac:chgData name="John Gakwa" userId="a4f1aca622b7df0e" providerId="LiveId" clId="{9E5129BE-3D0A-40E2-A03E-40751DB1CB99}" dt="2026-05-07T01:22:22.502" v="164" actId="20577"/>
          <ac:spMkLst>
            <pc:docMk/>
            <pc:sldMk cId="0" sldId="256"/>
            <ac:spMk id="39" creationId="{00000000-0000-0000-0000-000000000000}"/>
          </ac:spMkLst>
        </pc:spChg>
        <pc:spChg chg="mod">
          <ac:chgData name="John Gakwa" userId="a4f1aca622b7df0e" providerId="LiveId" clId="{9E5129BE-3D0A-40E2-A03E-40751DB1CB99}" dt="2026-05-07T01:22:40.546" v="184" actId="20577"/>
          <ac:spMkLst>
            <pc:docMk/>
            <pc:sldMk cId="0" sldId="256"/>
            <ac:spMk id="40" creationId="{00000000-0000-0000-0000-000000000000}"/>
          </ac:spMkLst>
        </pc:spChg>
        <pc:spChg chg="mod">
          <ac:chgData name="John Gakwa" userId="a4f1aca622b7df0e" providerId="LiveId" clId="{9E5129BE-3D0A-40E2-A03E-40751DB1CB99}" dt="2026-05-07T01:22:53.844" v="197" actId="20577"/>
          <ac:spMkLst>
            <pc:docMk/>
            <pc:sldMk cId="0" sldId="256"/>
            <ac:spMk id="41" creationId="{00000000-0000-0000-0000-000000000000}"/>
          </ac:spMkLst>
        </pc:spChg>
        <pc:spChg chg="mod">
          <ac:chgData name="John Gakwa" userId="a4f1aca622b7df0e" providerId="LiveId" clId="{9E5129BE-3D0A-40E2-A03E-40751DB1CB99}" dt="2026-05-07T01:20:15.171" v="62" actId="20577"/>
          <ac:spMkLst>
            <pc:docMk/>
            <pc:sldMk cId="0" sldId="256"/>
            <ac:spMk id="53" creationId="{00000000-0000-0000-0000-000000000000}"/>
          </ac:spMkLst>
        </pc:spChg>
        <pc:spChg chg="mod">
          <ac:chgData name="John Gakwa" userId="a4f1aca622b7df0e" providerId="LiveId" clId="{9E5129BE-3D0A-40E2-A03E-40751DB1CB99}" dt="2026-05-07T01:20:47.740" v="69" actId="1076"/>
          <ac:spMkLst>
            <pc:docMk/>
            <pc:sldMk cId="0" sldId="256"/>
            <ac:spMk id="54" creationId="{00000000-0000-0000-0000-000000000000}"/>
          </ac:spMkLst>
        </pc:spChg>
        <pc:spChg chg="mod">
          <ac:chgData name="John Gakwa" userId="a4f1aca622b7df0e" providerId="LiveId" clId="{9E5129BE-3D0A-40E2-A03E-40751DB1CB99}" dt="2026-05-07T01:20:44.736" v="68" actId="1076"/>
          <ac:spMkLst>
            <pc:docMk/>
            <pc:sldMk cId="0" sldId="256"/>
            <ac:spMk id="5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EBC995-E1BA-4468-ADDE-F11FCB9DDA97}" type="datetimeFigureOut">
              <a:rPr lang="en-US" smtClean="0"/>
              <a:t>5/6/2026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8F51A5-3C45-4DD1-9EC0-DDBE4FC78DCC}" type="slidenum">
              <a:rPr lang="en-US" smtClean="0"/>
              <a:t>‹#›</a:t>
            </a:fld>
            <a:endParaRPr lang="en-US"/>
          </a:p>
        </p:txBody>
      </p:sp>
    </p:spTree>
    <p:extLst>
      <p:ext uri="{BB962C8B-B14F-4D97-AF65-F5344CB8AC3E}">
        <p14:creationId xmlns:p14="http://schemas.microsoft.com/office/powerpoint/2010/main" val="247532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8F51A5-3C45-4DD1-9EC0-DDBE4FC78DCC}" type="slidenum">
              <a:rPr lang="en-US" smtClean="0"/>
              <a:t>1</a:t>
            </a:fld>
            <a:endParaRPr lang="en-US"/>
          </a:p>
        </p:txBody>
      </p:sp>
    </p:spTree>
    <p:extLst>
      <p:ext uri="{BB962C8B-B14F-4D97-AF65-F5344CB8AC3E}">
        <p14:creationId xmlns:p14="http://schemas.microsoft.com/office/powerpoint/2010/main" val="1309155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228AEC-291F-4D57-BFB9-2375117DD9DF}"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5556B7-43CE-49EE-AA00-CCAAFFA7DE83}" type="slidenum">
              <a:rPr lang="en-US" smtClean="0"/>
              <a:t>‹#›</a:t>
            </a:fld>
            <a:endParaRPr lang="en-US"/>
          </a:p>
        </p:txBody>
      </p:sp>
    </p:spTree>
    <p:extLst>
      <p:ext uri="{BB962C8B-B14F-4D97-AF65-F5344CB8AC3E}">
        <p14:creationId xmlns:p14="http://schemas.microsoft.com/office/powerpoint/2010/main" val="4231209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228AEC-291F-4D57-BFB9-2375117DD9DF}"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5556B7-43CE-49EE-AA00-CCAAFFA7DE83}" type="slidenum">
              <a:rPr lang="en-US" smtClean="0"/>
              <a:t>‹#›</a:t>
            </a:fld>
            <a:endParaRPr lang="en-US"/>
          </a:p>
        </p:txBody>
      </p:sp>
    </p:spTree>
    <p:extLst>
      <p:ext uri="{BB962C8B-B14F-4D97-AF65-F5344CB8AC3E}">
        <p14:creationId xmlns:p14="http://schemas.microsoft.com/office/powerpoint/2010/main" val="1945681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228AEC-291F-4D57-BFB9-2375117DD9DF}"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5556B7-43CE-49EE-AA00-CCAAFFA7DE83}" type="slidenum">
              <a:rPr lang="en-US" smtClean="0"/>
              <a:t>‹#›</a:t>
            </a:fld>
            <a:endParaRPr lang="en-US"/>
          </a:p>
        </p:txBody>
      </p:sp>
    </p:spTree>
    <p:extLst>
      <p:ext uri="{BB962C8B-B14F-4D97-AF65-F5344CB8AC3E}">
        <p14:creationId xmlns:p14="http://schemas.microsoft.com/office/powerpoint/2010/main" val="3693876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228AEC-291F-4D57-BFB9-2375117DD9DF}"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5556B7-43CE-49EE-AA00-CCAAFFA7DE83}" type="slidenum">
              <a:rPr lang="en-US" smtClean="0"/>
              <a:t>‹#›</a:t>
            </a:fld>
            <a:endParaRPr lang="en-US"/>
          </a:p>
        </p:txBody>
      </p:sp>
    </p:spTree>
    <p:extLst>
      <p:ext uri="{BB962C8B-B14F-4D97-AF65-F5344CB8AC3E}">
        <p14:creationId xmlns:p14="http://schemas.microsoft.com/office/powerpoint/2010/main" val="370098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228AEC-291F-4D57-BFB9-2375117DD9DF}"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5556B7-43CE-49EE-AA00-CCAAFFA7DE83}" type="slidenum">
              <a:rPr lang="en-US" smtClean="0"/>
              <a:t>‹#›</a:t>
            </a:fld>
            <a:endParaRPr lang="en-US"/>
          </a:p>
        </p:txBody>
      </p:sp>
    </p:spTree>
    <p:extLst>
      <p:ext uri="{BB962C8B-B14F-4D97-AF65-F5344CB8AC3E}">
        <p14:creationId xmlns:p14="http://schemas.microsoft.com/office/powerpoint/2010/main" val="4160681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228AEC-291F-4D57-BFB9-2375117DD9DF}"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5556B7-43CE-49EE-AA00-CCAAFFA7DE83}" type="slidenum">
              <a:rPr lang="en-US" smtClean="0"/>
              <a:t>‹#›</a:t>
            </a:fld>
            <a:endParaRPr lang="en-US"/>
          </a:p>
        </p:txBody>
      </p:sp>
    </p:spTree>
    <p:extLst>
      <p:ext uri="{BB962C8B-B14F-4D97-AF65-F5344CB8AC3E}">
        <p14:creationId xmlns:p14="http://schemas.microsoft.com/office/powerpoint/2010/main" val="3458638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228AEC-291F-4D57-BFB9-2375117DD9DF}"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5556B7-43CE-49EE-AA00-CCAAFFA7DE83}" type="slidenum">
              <a:rPr lang="en-US" smtClean="0"/>
              <a:t>‹#›</a:t>
            </a:fld>
            <a:endParaRPr lang="en-US"/>
          </a:p>
        </p:txBody>
      </p:sp>
    </p:spTree>
    <p:extLst>
      <p:ext uri="{BB962C8B-B14F-4D97-AF65-F5344CB8AC3E}">
        <p14:creationId xmlns:p14="http://schemas.microsoft.com/office/powerpoint/2010/main" val="1576097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84228AEC-291F-4D57-BFB9-2375117DD9DF}"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5556B7-43CE-49EE-AA00-CCAAFFA7DE83}" type="slidenum">
              <a:rPr lang="en-US" smtClean="0"/>
              <a:t>‹#›</a:t>
            </a:fld>
            <a:endParaRPr lang="en-US"/>
          </a:p>
        </p:txBody>
      </p:sp>
    </p:spTree>
    <p:extLst>
      <p:ext uri="{BB962C8B-B14F-4D97-AF65-F5344CB8AC3E}">
        <p14:creationId xmlns:p14="http://schemas.microsoft.com/office/powerpoint/2010/main" val="2778334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84228AEC-291F-4D57-BFB9-2375117DD9DF}"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5556B7-43CE-49EE-AA00-CCAAFFA7DE83}" type="slidenum">
              <a:rPr lang="en-US" smtClean="0"/>
              <a:t>‹#›</a:t>
            </a:fld>
            <a:endParaRPr lang="en-US"/>
          </a:p>
        </p:txBody>
      </p:sp>
    </p:spTree>
    <p:extLst>
      <p:ext uri="{BB962C8B-B14F-4D97-AF65-F5344CB8AC3E}">
        <p14:creationId xmlns:p14="http://schemas.microsoft.com/office/powerpoint/2010/main" val="2349162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228AEC-291F-4D57-BFB9-2375117DD9DF}"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5556B7-43CE-49EE-AA00-CCAAFFA7DE83}" type="slidenum">
              <a:rPr lang="en-US" smtClean="0"/>
              <a:t>‹#›</a:t>
            </a:fld>
            <a:endParaRPr lang="en-US"/>
          </a:p>
        </p:txBody>
      </p:sp>
    </p:spTree>
    <p:extLst>
      <p:ext uri="{BB962C8B-B14F-4D97-AF65-F5344CB8AC3E}">
        <p14:creationId xmlns:p14="http://schemas.microsoft.com/office/powerpoint/2010/main" val="4138204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228AEC-291F-4D57-BFB9-2375117DD9DF}"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5556B7-43CE-49EE-AA00-CCAAFFA7DE83}" type="slidenum">
              <a:rPr lang="en-US" smtClean="0"/>
              <a:t>‹#›</a:t>
            </a:fld>
            <a:endParaRPr lang="en-US"/>
          </a:p>
        </p:txBody>
      </p:sp>
    </p:spTree>
    <p:extLst>
      <p:ext uri="{BB962C8B-B14F-4D97-AF65-F5344CB8AC3E}">
        <p14:creationId xmlns:p14="http://schemas.microsoft.com/office/powerpoint/2010/main" val="3283653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82000"/>
                  </a:schemeClr>
                </a:solidFill>
              </a:defRPr>
            </a:lvl1pPr>
          </a:lstStyle>
          <a:p>
            <a:fld id="{84228AEC-291F-4D57-BFB9-2375117DD9DF}" type="datetimeFigureOut">
              <a:rPr lang="en-US" smtClean="0"/>
              <a:t>5/6/2026</a:t>
            </a:fld>
            <a:endParaRPr lang="en-US"/>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82000"/>
                  </a:schemeClr>
                </a:solidFill>
              </a:defRPr>
            </a:lvl1pPr>
          </a:lstStyle>
          <a:p>
            <a:fld id="{8B5556B7-43CE-49EE-AA00-CCAAFFA7DE83}" type="slidenum">
              <a:rPr lang="en-US" smtClean="0"/>
              <a:t>‹#›</a:t>
            </a:fld>
            <a:endParaRPr lang="en-US"/>
          </a:p>
        </p:txBody>
      </p:sp>
    </p:spTree>
    <p:extLst>
      <p:ext uri="{BB962C8B-B14F-4D97-AF65-F5344CB8AC3E}">
        <p14:creationId xmlns:p14="http://schemas.microsoft.com/office/powerpoint/2010/main" val="3086921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doi.org/10.18128/D070.V7.3"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HeaderBg"/>
          <p:cNvSpPr>
            <a:spLocks noChangeAspect="1"/>
          </p:cNvSpPr>
          <p:nvPr/>
        </p:nvSpPr>
        <p:spPr>
          <a:xfrm>
            <a:off x="0" y="0"/>
            <a:ext cx="43891200" cy="2910968"/>
          </a:xfrm>
          <a:prstGeom prst="rect">
            <a:avLst/>
          </a:prstGeom>
          <a:solidFill>
            <a:srgbClr val="0A2342"/>
          </a:solidFill>
          <a:ln>
            <a:noFill/>
          </a:ln>
        </p:spPr>
        <p:txBody>
          <a:bodyPr/>
          <a:lstStyle/>
          <a:p>
            <a:endParaRPr>
              <a:latin typeface="Times New Roman" panose="02020603050405020304" pitchFamily="18" charset="0"/>
              <a:cs typeface="Times New Roman" panose="02020603050405020304" pitchFamily="18" charset="0"/>
            </a:endParaRPr>
          </a:p>
        </p:txBody>
      </p:sp>
      <p:sp>
        <p:nvSpPr>
          <p:cNvPr id="3" name="AccentStrip"/>
          <p:cNvSpPr>
            <a:spLocks noChangeAspect="1"/>
          </p:cNvSpPr>
          <p:nvPr/>
        </p:nvSpPr>
        <p:spPr>
          <a:xfrm>
            <a:off x="0" y="2874923"/>
            <a:ext cx="43891200" cy="228600"/>
          </a:xfrm>
          <a:prstGeom prst="rect">
            <a:avLst/>
          </a:prstGeom>
          <a:solidFill>
            <a:srgbClr val="02C39A"/>
          </a:solidFill>
          <a:ln>
            <a:noFill/>
          </a:ln>
        </p:spPr>
        <p:txBody>
          <a:bodyPr/>
          <a:lstStyle/>
          <a:p>
            <a:endParaRPr>
              <a:latin typeface="Times New Roman" panose="02020603050405020304" pitchFamily="18" charset="0"/>
              <a:cs typeface="Times New Roman" panose="02020603050405020304" pitchFamily="18" charset="0"/>
            </a:endParaRPr>
          </a:p>
        </p:txBody>
      </p:sp>
      <p:sp>
        <p:nvSpPr>
          <p:cNvPr id="4" name="Title"/>
          <p:cNvSpPr txBox="1"/>
          <p:nvPr/>
        </p:nvSpPr>
        <p:spPr>
          <a:xfrm>
            <a:off x="457200" y="228601"/>
            <a:ext cx="43434000" cy="2626746"/>
          </a:xfrm>
          <a:prstGeom prst="rect">
            <a:avLst/>
          </a:prstGeom>
          <a:noFill/>
        </p:spPr>
        <p:txBody>
          <a:bodyPr wrap="square" anchor="ctr">
            <a:noAutofit/>
          </a:bodyPr>
          <a:lstStyle/>
          <a:p>
            <a:pPr algn="ctr"/>
            <a:r>
              <a:rPr lang="en-US" sz="6000" b="1" dirty="0">
                <a:solidFill>
                  <a:srgbClr val="FFFFFF"/>
                </a:solidFill>
                <a:latin typeface="Times New Roman" panose="02020603050405020304" pitchFamily="18" charset="0"/>
                <a:cs typeface="Times New Roman" panose="02020603050405020304" pitchFamily="18" charset="0"/>
              </a:rPr>
              <a:t>Predicting Diabetes from Health Behaviors and Demographics Using Support Vector Machines</a:t>
            </a:r>
          </a:p>
          <a:p>
            <a:pPr algn="ctr"/>
            <a:r>
              <a:rPr lang="en-US" sz="3200" b="0" dirty="0">
                <a:solidFill>
                  <a:srgbClr val="02C39A"/>
                </a:solidFill>
                <a:latin typeface="Times New Roman" panose="02020603050405020304" pitchFamily="18" charset="0"/>
                <a:cs typeface="Times New Roman" panose="02020603050405020304" pitchFamily="18" charset="0"/>
              </a:rPr>
              <a:t>Njenga Gakwa • DATA 5322 Statistical Machine Learning II • 2026</a:t>
            </a:r>
          </a:p>
        </p:txBody>
      </p:sp>
      <p:sp>
        <p:nvSpPr>
          <p:cNvPr id="10" name="Col1Bg"/>
          <p:cNvSpPr>
            <a:spLocks noChangeAspect="1"/>
          </p:cNvSpPr>
          <p:nvPr/>
        </p:nvSpPr>
        <p:spPr>
          <a:xfrm>
            <a:off x="27242" y="3118477"/>
            <a:ext cx="15285037" cy="29571322"/>
          </a:xfrm>
          <a:prstGeom prst="rect">
            <a:avLst/>
          </a:prstGeom>
          <a:solidFill>
            <a:srgbClr val="FFFFFF"/>
          </a:solidFill>
          <a:ln w="12700">
            <a:solidFill>
              <a:srgbClr val="DDDDDD"/>
            </a:solidFill>
          </a:ln>
        </p:spPr>
        <p:txBody>
          <a:bodyPr/>
          <a:lstStyle/>
          <a:p>
            <a:endParaRPr>
              <a:latin typeface="Times New Roman" panose="02020603050405020304" pitchFamily="18" charset="0"/>
              <a:cs typeface="Times New Roman" panose="02020603050405020304" pitchFamily="18" charset="0"/>
            </a:endParaRPr>
          </a:p>
        </p:txBody>
      </p:sp>
      <p:sp>
        <p:nvSpPr>
          <p:cNvPr id="11" name="Col1Accent"/>
          <p:cNvSpPr>
            <a:spLocks noChangeAspect="1"/>
          </p:cNvSpPr>
          <p:nvPr/>
        </p:nvSpPr>
        <p:spPr>
          <a:xfrm>
            <a:off x="27242" y="3332123"/>
            <a:ext cx="15285036" cy="171450"/>
          </a:xfrm>
          <a:prstGeom prst="rect">
            <a:avLst/>
          </a:prstGeom>
          <a:solidFill>
            <a:srgbClr val="02C39A"/>
          </a:solidFill>
          <a:ln>
            <a:noFill/>
          </a:ln>
        </p:spPr>
        <p:txBody>
          <a:bodyPr/>
          <a:lstStyle/>
          <a:p>
            <a:endParaRPr>
              <a:latin typeface="Times New Roman" panose="02020603050405020304" pitchFamily="18" charset="0"/>
              <a:cs typeface="Times New Roman" panose="02020603050405020304" pitchFamily="18" charset="0"/>
            </a:endParaRPr>
          </a:p>
        </p:txBody>
      </p:sp>
      <p:sp>
        <p:nvSpPr>
          <p:cNvPr id="12" name="IntroHeader"/>
          <p:cNvSpPr txBox="1"/>
          <p:nvPr/>
        </p:nvSpPr>
        <p:spPr>
          <a:xfrm>
            <a:off x="27241" y="3531269"/>
            <a:ext cx="15285037" cy="685800"/>
          </a:xfrm>
          <a:prstGeom prst="rect">
            <a:avLst/>
          </a:prstGeom>
          <a:noFill/>
        </p:spPr>
        <p:txBody>
          <a:bodyPr wrap="square">
            <a:noAutofit/>
          </a:bodyPr>
          <a:lstStyle/>
          <a:p>
            <a:pPr algn="ctr"/>
            <a:r>
              <a:rPr lang="en-US" sz="4400" b="1" dirty="0">
                <a:solidFill>
                  <a:srgbClr val="0A2342"/>
                </a:solidFill>
                <a:latin typeface="Times New Roman" panose="02020603050405020304" pitchFamily="18" charset="0"/>
                <a:cs typeface="Times New Roman" panose="02020603050405020304" pitchFamily="18" charset="0"/>
              </a:rPr>
              <a:t>Introduction</a:t>
            </a:r>
            <a:endParaRPr lang="en-US" sz="4000" b="1" dirty="0">
              <a:solidFill>
                <a:srgbClr val="0A2342"/>
              </a:solidFill>
              <a:latin typeface="Times New Roman" panose="02020603050405020304" pitchFamily="18" charset="0"/>
              <a:cs typeface="Times New Roman" panose="02020603050405020304" pitchFamily="18" charset="0"/>
            </a:endParaRPr>
          </a:p>
        </p:txBody>
      </p:sp>
      <p:sp>
        <p:nvSpPr>
          <p:cNvPr id="13" name="IntroBody"/>
          <p:cNvSpPr txBox="1"/>
          <p:nvPr/>
        </p:nvSpPr>
        <p:spPr>
          <a:xfrm>
            <a:off x="166020" y="4236734"/>
            <a:ext cx="15104073" cy="6311293"/>
          </a:xfrm>
          <a:prstGeom prst="rect">
            <a:avLst/>
          </a:prstGeom>
          <a:noFill/>
        </p:spPr>
        <p:txBody>
          <a:bodyPr wrap="square">
            <a:noAutofit/>
          </a:bodyPr>
          <a:lstStyle/>
          <a:p>
            <a:pPr marL="342900" indent="-342900">
              <a:lnSpc>
                <a:spcPct val="15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Diabetes affects millions of adults and is closely tied to lifestyle behaviors and demographic factors.</a:t>
            </a:r>
          </a:p>
          <a:p>
            <a:pPr marL="342900" indent="-342900">
              <a:lnSpc>
                <a:spcPct val="15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Using data from the 2022 National Health Interview Survey (NHIS) via IPUMS Health Survey, this study investigates which habits and demographics predict diabetes diagnosis.</a:t>
            </a:r>
          </a:p>
          <a:p>
            <a:pPr marL="342900" indent="-342900">
              <a:lnSpc>
                <a:spcPct val="150000"/>
              </a:lnSpc>
              <a:spcAft>
                <a:spcPts val="300"/>
              </a:spcAft>
              <a:buFont typeface="Arial"/>
              <a:buChar char="●"/>
            </a:pPr>
            <a:r>
              <a:rPr lang="en-US" sz="2800" dirty="0">
                <a:latin typeface="Times New Roman" panose="02020603050405020304" pitchFamily="18" charset="0"/>
                <a:cs typeface="Times New Roman" panose="02020603050405020304" pitchFamily="18" charset="0"/>
              </a:rPr>
              <a:t>The dataset includes demographic variables such as age and BMI, alongside behavioral measures including physical activity, sleep, alcohol use, and smoking status. </a:t>
            </a:r>
            <a:endParaRPr lang="en-US" sz="2800" dirty="0">
              <a:solidFill>
                <a:srgbClr val="1A1A2E"/>
              </a:solidFill>
              <a:latin typeface="Times New Roman" panose="02020603050405020304" pitchFamily="18" charset="0"/>
              <a:cs typeface="Times New Roman" panose="02020603050405020304" pitchFamily="18" charset="0"/>
            </a:endParaRPr>
          </a:p>
          <a:p>
            <a:pPr marL="342900" indent="-342900">
              <a:lnSpc>
                <a:spcPct val="15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Adults 40+ were the focus: diabetes risk increases substantially with age.</a:t>
            </a:r>
          </a:p>
          <a:p>
            <a:pPr marL="342900" indent="-342900">
              <a:lnSpc>
                <a:spcPct val="15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Three SVM models (linear, polynomial, radial kernels) were trained to classify ever-diagnosed diabetes.</a:t>
            </a:r>
          </a:p>
          <a:p>
            <a:pPr marL="342900" indent="-342900">
              <a:lnSpc>
                <a:spcPct val="150000"/>
              </a:lnSpc>
              <a:buFont typeface="Arial"/>
              <a:buChar char="●"/>
            </a:pPr>
            <a:r>
              <a:rPr lang="en-US" sz="2800" b="1" dirty="0">
                <a:solidFill>
                  <a:srgbClr val="02C39A"/>
                </a:solidFill>
                <a:latin typeface="Times New Roman" panose="02020603050405020304" pitchFamily="18" charset="0"/>
                <a:cs typeface="Times New Roman" panose="02020603050405020304" pitchFamily="18" charset="0"/>
              </a:rPr>
              <a:t>Research Question: </a:t>
            </a:r>
            <a:r>
              <a:rPr lang="en-US" sz="2800" dirty="0">
                <a:solidFill>
                  <a:srgbClr val="1A1A2E"/>
                </a:solidFill>
                <a:latin typeface="Times New Roman" panose="02020603050405020304" pitchFamily="18" charset="0"/>
                <a:cs typeface="Times New Roman" panose="02020603050405020304" pitchFamily="18" charset="0"/>
              </a:rPr>
              <a:t>Can demographic and behavioral survey data predict diabetes in adults 40+?</a:t>
            </a:r>
          </a:p>
        </p:txBody>
      </p:sp>
      <p:sp>
        <p:nvSpPr>
          <p:cNvPr id="14" name="TheoryHeader"/>
          <p:cNvSpPr txBox="1"/>
          <p:nvPr/>
        </p:nvSpPr>
        <p:spPr>
          <a:xfrm>
            <a:off x="27240" y="10743832"/>
            <a:ext cx="15285037" cy="685800"/>
          </a:xfrm>
          <a:prstGeom prst="rect">
            <a:avLst/>
          </a:prstGeom>
          <a:noFill/>
        </p:spPr>
        <p:txBody>
          <a:bodyPr wrap="square">
            <a:noAutofit/>
          </a:bodyPr>
          <a:lstStyle/>
          <a:p>
            <a:pPr algn="ctr"/>
            <a:r>
              <a:rPr lang="en-US" sz="4400" b="1" dirty="0">
                <a:solidFill>
                  <a:srgbClr val="0A2342"/>
                </a:solidFill>
                <a:latin typeface="Times New Roman" panose="02020603050405020304" pitchFamily="18" charset="0"/>
                <a:cs typeface="Times New Roman" panose="02020603050405020304" pitchFamily="18" charset="0"/>
              </a:rPr>
              <a:t>Theoretical Background</a:t>
            </a:r>
          </a:p>
        </p:txBody>
      </p:sp>
      <p:sp>
        <p:nvSpPr>
          <p:cNvPr id="15" name="TheoryBody"/>
          <p:cNvSpPr txBox="1"/>
          <p:nvPr/>
        </p:nvSpPr>
        <p:spPr>
          <a:xfrm>
            <a:off x="27240" y="11518607"/>
            <a:ext cx="15242853" cy="11254307"/>
          </a:xfrm>
          <a:prstGeom prst="rect">
            <a:avLst/>
          </a:prstGeom>
          <a:noFill/>
        </p:spPr>
        <p:txBody>
          <a:bodyPr wrap="square">
            <a:noAutofit/>
          </a:bodyPr>
          <a:lstStyle/>
          <a:p>
            <a:pPr marL="342900" indent="-342900">
              <a:lnSpc>
                <a:spcPct val="150000"/>
              </a:lnSpc>
              <a:spcAft>
                <a:spcPts val="250"/>
              </a:spcAft>
              <a:buFont typeface="Arial"/>
              <a:buChar char="●"/>
            </a:pPr>
            <a:r>
              <a:rPr lang="en-US" sz="2800" dirty="0">
                <a:latin typeface="Times New Roman" panose="02020603050405020304" pitchFamily="18" charset="0"/>
                <a:cs typeface="Times New Roman" panose="02020603050405020304" pitchFamily="18" charset="0"/>
              </a:rPr>
              <a:t>A Support Vector Machine is a supervised classification method that finds the optimal decision boundary, called a </a:t>
            </a:r>
            <a:r>
              <a:rPr lang="en-US" sz="2800" b="1" dirty="0">
                <a:solidFill>
                  <a:srgbClr val="0A2342"/>
                </a:solidFill>
                <a:latin typeface="Times New Roman" panose="02020603050405020304" pitchFamily="18" charset="0"/>
                <a:cs typeface="Times New Roman" panose="02020603050405020304" pitchFamily="18" charset="0"/>
              </a:rPr>
              <a:t>hyperplane</a:t>
            </a:r>
            <a:r>
              <a:rPr lang="en-US" sz="2800" dirty="0">
                <a:latin typeface="Times New Roman" panose="02020603050405020304" pitchFamily="18" charset="0"/>
                <a:cs typeface="Times New Roman" panose="02020603050405020304" pitchFamily="18" charset="0"/>
              </a:rPr>
              <a:t>, that separates two classes with the maximum possible margin. The margin is the width of the region bounded by two parallel hyperplanes equidistant from the decision boundary. In the soft-margin SVM, points may fall inside or on the wrong side of the margin controlled by cost C. The training points closest to the decision boundary  and any margin violators are called </a:t>
            </a:r>
            <a:r>
              <a:rPr lang="en-US" sz="2800" b="1" dirty="0">
                <a:solidFill>
                  <a:srgbClr val="0A2342"/>
                </a:solidFill>
                <a:latin typeface="Times New Roman" panose="02020603050405020304" pitchFamily="18" charset="0"/>
                <a:cs typeface="Times New Roman" panose="02020603050405020304" pitchFamily="18" charset="0"/>
              </a:rPr>
              <a:t>support</a:t>
            </a:r>
            <a:r>
              <a:rPr lang="en-US" sz="2800" dirty="0">
                <a:latin typeface="Times New Roman" panose="02020603050405020304" pitchFamily="18" charset="0"/>
                <a:cs typeface="Times New Roman" panose="02020603050405020304" pitchFamily="18" charset="0"/>
              </a:rPr>
              <a:t> </a:t>
            </a:r>
            <a:r>
              <a:rPr lang="en-US" sz="2800" b="1" dirty="0">
                <a:solidFill>
                  <a:srgbClr val="0A2342"/>
                </a:solidFill>
                <a:latin typeface="Times New Roman" panose="02020603050405020304" pitchFamily="18" charset="0"/>
                <a:cs typeface="Times New Roman" panose="02020603050405020304" pitchFamily="18" charset="0"/>
              </a:rPr>
              <a:t>vectors</a:t>
            </a:r>
            <a:r>
              <a:rPr lang="en-US" sz="2800" dirty="0">
                <a:latin typeface="Times New Roman" panose="02020603050405020304" pitchFamily="18" charset="0"/>
                <a:cs typeface="Times New Roman" panose="02020603050405020304" pitchFamily="18" charset="0"/>
              </a:rPr>
              <a:t>. Maximizing this margin minimizes generalization error.</a:t>
            </a:r>
            <a:endParaRPr lang="en-US" sz="2800" dirty="0">
              <a:solidFill>
                <a:srgbClr val="1A1A2E"/>
              </a:solidFill>
              <a:latin typeface="Times New Roman" panose="02020603050405020304" pitchFamily="18" charset="0"/>
              <a:cs typeface="Times New Roman" panose="02020603050405020304" pitchFamily="18" charset="0"/>
            </a:endParaRPr>
          </a:p>
          <a:p>
            <a:pPr marL="342900" indent="-342900">
              <a:lnSpc>
                <a:spcPct val="150000"/>
              </a:lnSpc>
              <a:spcAft>
                <a:spcPts val="25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For non-linearly separable data, SVMs use a </a:t>
            </a:r>
            <a:r>
              <a:rPr lang="en-US" sz="2800" b="1" dirty="0">
                <a:solidFill>
                  <a:srgbClr val="0A2342"/>
                </a:solidFill>
                <a:latin typeface="Times New Roman" panose="02020603050405020304" pitchFamily="18" charset="0"/>
                <a:cs typeface="Times New Roman" panose="02020603050405020304" pitchFamily="18" charset="0"/>
              </a:rPr>
              <a:t>kernel function</a:t>
            </a:r>
            <a:r>
              <a:rPr lang="en-US" sz="2800" dirty="0">
                <a:solidFill>
                  <a:srgbClr val="1A1A2E"/>
                </a:solidFill>
                <a:latin typeface="Times New Roman" panose="02020603050405020304" pitchFamily="18" charset="0"/>
                <a:cs typeface="Times New Roman" panose="02020603050405020304" pitchFamily="18" charset="0"/>
              </a:rPr>
              <a:t> to implicitly map data into higher-dimensional space where a linear boundary can be found.</a:t>
            </a:r>
          </a:p>
          <a:p>
            <a:pPr>
              <a:lnSpc>
                <a:spcPct val="150000"/>
              </a:lnSpc>
              <a:spcBef>
                <a:spcPts val="200"/>
              </a:spcBef>
            </a:pPr>
            <a:r>
              <a:rPr lang="en-US" sz="3000" b="1" dirty="0">
                <a:solidFill>
                  <a:srgbClr val="02C39A"/>
                </a:solidFill>
                <a:latin typeface="Times New Roman" panose="02020603050405020304" pitchFamily="18" charset="0"/>
                <a:cs typeface="Times New Roman" panose="02020603050405020304" pitchFamily="18" charset="0"/>
              </a:rPr>
              <a:t>Optimization Problem (Soft-Margin SVM):</a:t>
            </a:r>
          </a:p>
          <a:p>
            <a:pPr marL="342900">
              <a:lnSpc>
                <a:spcPct val="150000"/>
              </a:lnSpc>
            </a:pPr>
            <a:r>
              <a:rPr lang="en-US" sz="2800" i="1" dirty="0">
                <a:latin typeface="Times New Roman" panose="02020603050405020304" pitchFamily="18" charset="0"/>
                <a:cs typeface="Times New Roman" panose="02020603050405020304" pitchFamily="18" charset="0"/>
              </a:rPr>
              <a:t>Minimize:  ½‖w‖² + C Σξᵢ</a:t>
            </a:r>
          </a:p>
          <a:p>
            <a:pPr marL="342900">
              <a:lnSpc>
                <a:spcPct val="150000"/>
              </a:lnSpc>
            </a:pPr>
            <a:r>
              <a:rPr lang="en-US" sz="2800" i="1" dirty="0">
                <a:latin typeface="Times New Roman" panose="02020603050405020304" pitchFamily="18" charset="0"/>
                <a:cs typeface="Times New Roman" panose="02020603050405020304" pitchFamily="18" charset="0"/>
              </a:rPr>
              <a:t>Subject to:  yᵢ(wᵀxᵢ + b) ≥ 1 − ξᵢ,  ξᵢ ≥ 0</a:t>
            </a:r>
          </a:p>
          <a:p>
            <a:pPr>
              <a:lnSpc>
                <a:spcPct val="150000"/>
              </a:lnSpc>
              <a:spcBef>
                <a:spcPts val="200"/>
              </a:spcBef>
            </a:pPr>
            <a:r>
              <a:rPr lang="en-US" sz="3200" b="1" dirty="0">
                <a:solidFill>
                  <a:srgbClr val="02C39A"/>
                </a:solidFill>
                <a:latin typeface="Times New Roman" panose="02020603050405020304" pitchFamily="18" charset="0"/>
                <a:cs typeface="Times New Roman" panose="02020603050405020304" pitchFamily="18" charset="0"/>
              </a:rPr>
              <a:t>Kernels Used:</a:t>
            </a:r>
          </a:p>
          <a:p>
            <a:pPr marL="457200" indent="-457200">
              <a:lnSpc>
                <a:spcPct val="150000"/>
              </a:lnSpc>
              <a:spcAft>
                <a:spcPts val="200"/>
              </a:spcAft>
              <a:buFont typeface="Arial"/>
              <a:buChar char="▶"/>
            </a:pPr>
            <a:r>
              <a:rPr lang="en-US" sz="2800" b="1" dirty="0">
                <a:solidFill>
                  <a:srgbClr val="0A2342"/>
                </a:solidFill>
                <a:latin typeface="Times New Roman" panose="02020603050405020304" pitchFamily="18" charset="0"/>
                <a:cs typeface="Times New Roman" panose="02020603050405020304" pitchFamily="18" charset="0"/>
              </a:rPr>
              <a:t>Linear: </a:t>
            </a:r>
            <a:r>
              <a:rPr lang="en-US" sz="2800" i="1" dirty="0">
                <a:solidFill>
                  <a:srgbClr val="444444"/>
                </a:solidFill>
                <a:latin typeface="Times New Roman" panose="02020603050405020304" pitchFamily="18" charset="0"/>
                <a:cs typeface="Times New Roman" panose="02020603050405020304" pitchFamily="18" charset="0"/>
              </a:rPr>
              <a:t>K(xi, xj) = </a:t>
            </a:r>
            <a:r>
              <a:rPr lang="en-US" sz="2800" i="1" dirty="0" err="1">
                <a:solidFill>
                  <a:srgbClr val="444444"/>
                </a:solidFill>
                <a:latin typeface="Times New Roman" panose="02020603050405020304" pitchFamily="18" charset="0"/>
                <a:cs typeface="Times New Roman" panose="02020603050405020304" pitchFamily="18" charset="0"/>
              </a:rPr>
              <a:t>xiᵀxj</a:t>
            </a:r>
            <a:r>
              <a:rPr lang="en-US" sz="2800" i="1" dirty="0">
                <a:solidFill>
                  <a:srgbClr val="1A1A2E"/>
                </a:solidFill>
                <a:latin typeface="Times New Roman" panose="02020603050405020304" pitchFamily="18" charset="0"/>
                <a:cs typeface="Times New Roman" panose="02020603050405020304" pitchFamily="18" charset="0"/>
              </a:rPr>
              <a:t>	</a:t>
            </a:r>
            <a:r>
              <a:rPr lang="en-US" sz="2800" dirty="0">
                <a:solidFill>
                  <a:srgbClr val="1A1A2E"/>
                </a:solidFill>
                <a:latin typeface="Times New Roman" panose="02020603050405020304" pitchFamily="18" charset="0"/>
                <a:cs typeface="Times New Roman" panose="02020603050405020304" pitchFamily="18" charset="0"/>
              </a:rPr>
              <a:t>best for linearly separable data</a:t>
            </a:r>
          </a:p>
          <a:p>
            <a:pPr marL="457200" indent="-457200">
              <a:lnSpc>
                <a:spcPct val="150000"/>
              </a:lnSpc>
              <a:spcAft>
                <a:spcPts val="200"/>
              </a:spcAft>
              <a:buFont typeface="Arial"/>
              <a:buChar char="▶"/>
            </a:pPr>
            <a:r>
              <a:rPr lang="en-US" sz="2800" b="1" dirty="0">
                <a:solidFill>
                  <a:srgbClr val="0A2342"/>
                </a:solidFill>
                <a:latin typeface="Times New Roman" panose="02020603050405020304" pitchFamily="18" charset="0"/>
                <a:cs typeface="Times New Roman" panose="02020603050405020304" pitchFamily="18" charset="0"/>
              </a:rPr>
              <a:t>Polynomial: </a:t>
            </a:r>
            <a:r>
              <a:rPr lang="en-US" sz="2800" i="1" dirty="0">
                <a:solidFill>
                  <a:srgbClr val="444444"/>
                </a:solidFill>
                <a:latin typeface="Times New Roman" panose="02020603050405020304" pitchFamily="18" charset="0"/>
                <a:cs typeface="Times New Roman" panose="02020603050405020304" pitchFamily="18" charset="0"/>
              </a:rPr>
              <a:t>K(xi,xj) = (γ xiᵀxj + r)ᵈ</a:t>
            </a:r>
            <a:r>
              <a:rPr lang="en-US" sz="2800" i="1" dirty="0">
                <a:solidFill>
                  <a:srgbClr val="1A1A2E"/>
                </a:solidFill>
                <a:latin typeface="Times New Roman" panose="02020603050405020304" pitchFamily="18" charset="0"/>
                <a:cs typeface="Times New Roman" panose="02020603050405020304" pitchFamily="18" charset="0"/>
              </a:rPr>
              <a:t>	</a:t>
            </a:r>
            <a:r>
              <a:rPr lang="en-US" sz="2800" dirty="0">
                <a:solidFill>
                  <a:srgbClr val="1A1A2E"/>
                </a:solidFill>
                <a:latin typeface="Times New Roman" panose="02020603050405020304" pitchFamily="18" charset="0"/>
                <a:cs typeface="Times New Roman" panose="02020603050405020304" pitchFamily="18" charset="0"/>
              </a:rPr>
              <a:t>interaction effects; tuned via degree d, cost C</a:t>
            </a:r>
          </a:p>
          <a:p>
            <a:pPr marL="457200" indent="-457200">
              <a:lnSpc>
                <a:spcPct val="150000"/>
              </a:lnSpc>
              <a:spcAft>
                <a:spcPts val="300"/>
              </a:spcAft>
              <a:buFont typeface="Arial"/>
              <a:buChar char="▶"/>
            </a:pPr>
            <a:r>
              <a:rPr lang="en-US" sz="2800" b="1" dirty="0">
                <a:solidFill>
                  <a:srgbClr val="0A2342"/>
                </a:solidFill>
                <a:latin typeface="Times New Roman" panose="02020603050405020304" pitchFamily="18" charset="0"/>
                <a:cs typeface="Times New Roman" panose="02020603050405020304" pitchFamily="18" charset="0"/>
              </a:rPr>
              <a:t>Radial (RBF): </a:t>
            </a:r>
            <a:r>
              <a:rPr lang="en-US" sz="2800" i="1" dirty="0">
                <a:solidFill>
                  <a:srgbClr val="444444"/>
                </a:solidFill>
                <a:latin typeface="Times New Roman" panose="02020603050405020304" pitchFamily="18" charset="0"/>
                <a:cs typeface="Times New Roman" panose="02020603050405020304" pitchFamily="18" charset="0"/>
              </a:rPr>
              <a:t>K(xi,xj) = exp(−γ‖xi−xj‖²)</a:t>
            </a:r>
            <a:r>
              <a:rPr lang="en-US" sz="2800" i="1" dirty="0">
                <a:solidFill>
                  <a:srgbClr val="1A1A2E"/>
                </a:solidFill>
                <a:latin typeface="Times New Roman" panose="02020603050405020304" pitchFamily="18" charset="0"/>
                <a:cs typeface="Times New Roman" panose="02020603050405020304" pitchFamily="18" charset="0"/>
              </a:rPr>
              <a:t>	</a:t>
            </a:r>
            <a:r>
              <a:rPr lang="en-US" sz="2800" dirty="0">
                <a:solidFill>
                  <a:srgbClr val="1A1A2E"/>
                </a:solidFill>
                <a:latin typeface="Times New Roman" panose="02020603050405020304" pitchFamily="18" charset="0"/>
                <a:cs typeface="Times New Roman" panose="02020603050405020304" pitchFamily="18" charset="0"/>
              </a:rPr>
              <a:t>complex boundaries; tuned via γ, cost C</a:t>
            </a:r>
          </a:p>
          <a:p>
            <a:pPr marL="342900" indent="-342900">
              <a:lnSpc>
                <a:spcPct val="150000"/>
              </a:lnSpc>
              <a:buFont typeface="Arial"/>
              <a:buChar char="●"/>
            </a:pPr>
            <a:r>
              <a:rPr lang="en-US" sz="2800" dirty="0">
                <a:solidFill>
                  <a:srgbClr val="1A1A2E"/>
                </a:solidFill>
                <a:latin typeface="Times New Roman" panose="02020603050405020304" pitchFamily="18" charset="0"/>
                <a:cs typeface="Times New Roman" panose="02020603050405020304" pitchFamily="18" charset="0"/>
              </a:rPr>
              <a:t>Cost </a:t>
            </a:r>
            <a:r>
              <a:rPr lang="en-US" sz="2800" b="1" dirty="0">
                <a:solidFill>
                  <a:srgbClr val="0A2342"/>
                </a:solidFill>
                <a:latin typeface="Times New Roman" panose="02020603050405020304" pitchFamily="18" charset="0"/>
                <a:cs typeface="Times New Roman" panose="02020603050405020304" pitchFamily="18" charset="0"/>
              </a:rPr>
              <a:t>C</a:t>
            </a:r>
            <a:r>
              <a:rPr lang="en-US" sz="2800" dirty="0">
                <a:solidFill>
                  <a:srgbClr val="1A1A2E"/>
                </a:solidFill>
                <a:latin typeface="Times New Roman" panose="02020603050405020304" pitchFamily="18" charset="0"/>
                <a:cs typeface="Times New Roman" panose="02020603050405020304" pitchFamily="18" charset="0"/>
              </a:rPr>
              <a:t> controls bias-variance tradeoff: small C = wider margin, large C = tighter training fit. Optimized via tune.svm() cross-validation.</a:t>
            </a:r>
          </a:p>
        </p:txBody>
      </p:sp>
      <p:sp>
        <p:nvSpPr>
          <p:cNvPr id="20" name="Col2Bg"/>
          <p:cNvSpPr>
            <a:spLocks noChangeAspect="1"/>
          </p:cNvSpPr>
          <p:nvPr/>
        </p:nvSpPr>
        <p:spPr>
          <a:xfrm>
            <a:off x="15586178" y="3118476"/>
            <a:ext cx="12863343" cy="29799924"/>
          </a:xfrm>
          <a:prstGeom prst="rect">
            <a:avLst/>
          </a:prstGeom>
          <a:solidFill>
            <a:srgbClr val="FFFFFF"/>
          </a:solidFill>
          <a:ln w="12700">
            <a:solidFill>
              <a:srgbClr val="DDDDDD"/>
            </a:solidFill>
          </a:ln>
        </p:spPr>
        <p:txBody>
          <a:bodyPr/>
          <a:lstStyle/>
          <a:p>
            <a:endParaRPr dirty="0">
              <a:latin typeface="Times New Roman" panose="02020603050405020304" pitchFamily="18" charset="0"/>
              <a:cs typeface="Times New Roman" panose="02020603050405020304" pitchFamily="18" charset="0"/>
            </a:endParaRPr>
          </a:p>
        </p:txBody>
      </p:sp>
      <p:sp>
        <p:nvSpPr>
          <p:cNvPr id="21" name="Col2Accent"/>
          <p:cNvSpPr>
            <a:spLocks noChangeAspect="1"/>
          </p:cNvSpPr>
          <p:nvPr/>
        </p:nvSpPr>
        <p:spPr>
          <a:xfrm>
            <a:off x="15586178" y="3342515"/>
            <a:ext cx="12836103" cy="166219"/>
          </a:xfrm>
          <a:prstGeom prst="rect">
            <a:avLst/>
          </a:prstGeom>
          <a:solidFill>
            <a:srgbClr val="02C39A"/>
          </a:solidFill>
          <a:ln>
            <a:noFill/>
          </a:ln>
        </p:spPr>
        <p:txBody>
          <a:bodyPr/>
          <a:lstStyle/>
          <a:p>
            <a:endParaRPr>
              <a:latin typeface="Times New Roman" panose="02020603050405020304" pitchFamily="18" charset="0"/>
              <a:cs typeface="Times New Roman" panose="02020603050405020304" pitchFamily="18" charset="0"/>
            </a:endParaRPr>
          </a:p>
        </p:txBody>
      </p:sp>
      <p:sp>
        <p:nvSpPr>
          <p:cNvPr id="22" name="MethodHeader"/>
          <p:cNvSpPr txBox="1"/>
          <p:nvPr/>
        </p:nvSpPr>
        <p:spPr>
          <a:xfrm>
            <a:off x="-1" y="23026035"/>
            <a:ext cx="15312278" cy="685800"/>
          </a:xfrm>
          <a:prstGeom prst="rect">
            <a:avLst/>
          </a:prstGeom>
          <a:noFill/>
        </p:spPr>
        <p:txBody>
          <a:bodyPr wrap="square">
            <a:noAutofit/>
          </a:bodyPr>
          <a:lstStyle/>
          <a:p>
            <a:pPr algn="ctr"/>
            <a:r>
              <a:rPr lang="en-US" sz="4400" b="1" dirty="0">
                <a:solidFill>
                  <a:srgbClr val="0A2342"/>
                </a:solidFill>
                <a:latin typeface="Times New Roman" panose="02020603050405020304" pitchFamily="18" charset="0"/>
                <a:cs typeface="Times New Roman" panose="02020603050405020304" pitchFamily="18" charset="0"/>
              </a:rPr>
              <a:t>Methodology</a:t>
            </a:r>
            <a:endParaRPr lang="en-US" sz="4000" b="1" dirty="0">
              <a:solidFill>
                <a:srgbClr val="0A2342"/>
              </a:solidFill>
              <a:latin typeface="Times New Roman" panose="02020603050405020304" pitchFamily="18" charset="0"/>
              <a:cs typeface="Times New Roman" panose="02020603050405020304" pitchFamily="18" charset="0"/>
            </a:endParaRPr>
          </a:p>
        </p:txBody>
      </p:sp>
      <p:sp>
        <p:nvSpPr>
          <p:cNvPr id="24" name="ResultsHeader"/>
          <p:cNvSpPr txBox="1"/>
          <p:nvPr/>
        </p:nvSpPr>
        <p:spPr>
          <a:xfrm>
            <a:off x="15586178" y="3531269"/>
            <a:ext cx="12836102" cy="685800"/>
          </a:xfrm>
          <a:prstGeom prst="rect">
            <a:avLst/>
          </a:prstGeom>
          <a:noFill/>
        </p:spPr>
        <p:txBody>
          <a:bodyPr wrap="square">
            <a:noAutofit/>
          </a:bodyPr>
          <a:lstStyle/>
          <a:p>
            <a:pPr algn="ctr"/>
            <a:r>
              <a:rPr lang="en-US" sz="4400" b="1" dirty="0">
                <a:solidFill>
                  <a:srgbClr val="0A2342"/>
                </a:solidFill>
                <a:latin typeface="Times New Roman" panose="02020603050405020304" pitchFamily="18" charset="0"/>
                <a:cs typeface="Times New Roman" panose="02020603050405020304" pitchFamily="18" charset="0"/>
              </a:rPr>
              <a:t>Results</a:t>
            </a:r>
          </a:p>
        </p:txBody>
      </p:sp>
      <p:pic>
        <p:nvPicPr>
          <p:cNvPr id="34" name="BarChart"/>
          <p:cNvPicPr>
            <a:picLocks noChangeAspect="1"/>
          </p:cNvPicPr>
          <p:nvPr/>
        </p:nvPicPr>
        <p:blipFill>
          <a:blip r:embed="rId3"/>
          <a:stretch>
            <a:fillRect/>
          </a:stretch>
        </p:blipFill>
        <p:spPr>
          <a:xfrm>
            <a:off x="17221200" y="4224965"/>
            <a:ext cx="9906000" cy="6172200"/>
          </a:xfrm>
          <a:prstGeom prst="rect">
            <a:avLst/>
          </a:prstGeom>
        </p:spPr>
      </p:pic>
      <p:sp>
        <p:nvSpPr>
          <p:cNvPr id="33" name="Fig1Caption"/>
          <p:cNvSpPr txBox="1"/>
          <p:nvPr/>
        </p:nvSpPr>
        <p:spPr>
          <a:xfrm>
            <a:off x="18085479" y="10362662"/>
            <a:ext cx="9906000" cy="457200"/>
          </a:xfrm>
          <a:prstGeom prst="rect">
            <a:avLst/>
          </a:prstGeom>
          <a:noFill/>
        </p:spPr>
        <p:txBody>
          <a:bodyPr wrap="square">
            <a:noAutofit/>
          </a:bodyPr>
          <a:lstStyle/>
          <a:p>
            <a:r>
              <a:rPr lang="en-US" sz="1800" i="1" dirty="0">
                <a:solidFill>
                  <a:srgbClr val="555555"/>
                </a:solidFill>
                <a:latin typeface="Times New Roman" panose="02020603050405020304" pitchFamily="18" charset="0"/>
                <a:cs typeface="Times New Roman" panose="02020603050405020304" pitchFamily="18" charset="0"/>
              </a:rPr>
              <a:t>Figure 1. Test set accuracy by kernel after hyperparameter tuning</a:t>
            </a:r>
          </a:p>
        </p:txBody>
      </p:sp>
      <p:sp>
        <p:nvSpPr>
          <p:cNvPr id="35" name="Fig2Label"/>
          <p:cNvSpPr txBox="1"/>
          <p:nvPr/>
        </p:nvSpPr>
        <p:spPr>
          <a:xfrm>
            <a:off x="15586177" y="10947107"/>
            <a:ext cx="12836102" cy="571500"/>
          </a:xfrm>
          <a:prstGeom prst="rect">
            <a:avLst/>
          </a:prstGeom>
          <a:noFill/>
        </p:spPr>
        <p:txBody>
          <a:bodyPr wrap="square">
            <a:noAutofit/>
          </a:bodyPr>
          <a:lstStyle/>
          <a:p>
            <a:pPr algn="ctr"/>
            <a:r>
              <a:rPr lang="en-US" sz="2800" b="1" dirty="0">
                <a:solidFill>
                  <a:srgbClr val="02C39A"/>
                </a:solidFill>
                <a:latin typeface="Times New Roman" panose="02020603050405020304" pitchFamily="18" charset="0"/>
                <a:cs typeface="Times New Roman" panose="02020603050405020304" pitchFamily="18" charset="0"/>
              </a:rPr>
              <a:t>Decision Boundary Plots for Age vs BMI</a:t>
            </a:r>
          </a:p>
        </p:txBody>
      </p:sp>
      <p:sp>
        <p:nvSpPr>
          <p:cNvPr id="36" name="BoundaryCaption"/>
          <p:cNvSpPr txBox="1"/>
          <p:nvPr/>
        </p:nvSpPr>
        <p:spPr>
          <a:xfrm>
            <a:off x="15620868" y="30454173"/>
            <a:ext cx="12801411" cy="2454082"/>
          </a:xfrm>
          <a:prstGeom prst="rect">
            <a:avLst/>
          </a:prstGeom>
          <a:solidFill>
            <a:srgbClr val="EAF4F4"/>
          </a:solidFill>
          <a:ln w="12700">
            <a:solidFill>
              <a:srgbClr val="02C39A"/>
            </a:solidFill>
          </a:ln>
        </p:spPr>
        <p:txBody>
          <a:bodyPr wrap="square" lIns="228600" tIns="114300" rIns="228600" bIns="114300">
            <a:noAutofit/>
          </a:bodyPr>
          <a:lstStyle/>
          <a:p>
            <a:pPr>
              <a:lnSpc>
                <a:spcPct val="130000"/>
              </a:lnSpc>
            </a:pPr>
            <a:r>
              <a:rPr lang="en-US" sz="2400" b="1" dirty="0">
                <a:solidFill>
                  <a:srgbClr val="0A2342"/>
                </a:solidFill>
                <a:latin typeface="Times New Roman" panose="02020603050405020304" pitchFamily="18" charset="0"/>
                <a:cs typeface="Times New Roman" panose="02020603050405020304" pitchFamily="18" charset="0"/>
              </a:rPr>
              <a:t>How to read: </a:t>
            </a:r>
            <a:r>
              <a:rPr lang="en-US" sz="2400" dirty="0">
                <a:solidFill>
                  <a:srgbClr val="1A1A2E"/>
                </a:solidFill>
                <a:latin typeface="Times New Roman" panose="02020603050405020304" pitchFamily="18" charset="0"/>
                <a:cs typeface="Times New Roman" panose="02020603050405020304" pitchFamily="18" charset="0"/>
              </a:rPr>
              <a:t>Colored regions show where the model predicts each class across Age × BMI space. 0 = predicted non-diabetic; 1 = predicted diabetic. X markers are support vectors, the training points nearest the boundary that define it. The boundary shifts diagonally: higher BMI combined with older age tends to predict diabetes, consistent with known clinical risk factors (ADA, Diabetes Care, 2023).</a:t>
            </a:r>
          </a:p>
        </p:txBody>
      </p:sp>
      <p:sp>
        <p:nvSpPr>
          <p:cNvPr id="50" name="Col3Bg"/>
          <p:cNvSpPr>
            <a:spLocks noChangeAspect="1"/>
          </p:cNvSpPr>
          <p:nvPr/>
        </p:nvSpPr>
        <p:spPr>
          <a:xfrm>
            <a:off x="28738366" y="3103537"/>
            <a:ext cx="15125591" cy="29814863"/>
          </a:xfrm>
          <a:prstGeom prst="rect">
            <a:avLst/>
          </a:prstGeom>
          <a:solidFill>
            <a:srgbClr val="FFFFFF"/>
          </a:solidFill>
          <a:ln w="12700">
            <a:solidFill>
              <a:srgbClr val="DDDDDD"/>
            </a:solidFill>
          </a:ln>
        </p:spPr>
        <p:txBody>
          <a:bodyPr/>
          <a:lstStyle/>
          <a:p>
            <a:endParaRPr>
              <a:latin typeface="Times New Roman" panose="02020603050405020304" pitchFamily="18" charset="0"/>
              <a:cs typeface="Times New Roman" panose="02020603050405020304" pitchFamily="18" charset="0"/>
            </a:endParaRPr>
          </a:p>
        </p:txBody>
      </p:sp>
      <p:sp>
        <p:nvSpPr>
          <p:cNvPr id="51" name="Col3Accent"/>
          <p:cNvSpPr>
            <a:spLocks noChangeAspect="1"/>
          </p:cNvSpPr>
          <p:nvPr/>
        </p:nvSpPr>
        <p:spPr>
          <a:xfrm>
            <a:off x="28738366" y="7634965"/>
            <a:ext cx="15125591" cy="171450"/>
          </a:xfrm>
          <a:prstGeom prst="rect">
            <a:avLst/>
          </a:prstGeom>
          <a:solidFill>
            <a:srgbClr val="02C39A"/>
          </a:solidFill>
          <a:ln>
            <a:noFill/>
          </a:ln>
        </p:spPr>
        <p:txBody>
          <a:bodyPr/>
          <a:lstStyle/>
          <a:p>
            <a:endParaRPr>
              <a:latin typeface="Times New Roman" panose="02020603050405020304" pitchFamily="18" charset="0"/>
              <a:cs typeface="Times New Roman" panose="02020603050405020304" pitchFamily="18" charset="0"/>
            </a:endParaRPr>
          </a:p>
        </p:txBody>
      </p:sp>
      <p:sp>
        <p:nvSpPr>
          <p:cNvPr id="52" name="DiscHeader"/>
          <p:cNvSpPr txBox="1"/>
          <p:nvPr/>
        </p:nvSpPr>
        <p:spPr>
          <a:xfrm>
            <a:off x="29246285" y="8058961"/>
            <a:ext cx="9906000" cy="685800"/>
          </a:xfrm>
          <a:prstGeom prst="rect">
            <a:avLst/>
          </a:prstGeom>
          <a:noFill/>
        </p:spPr>
        <p:txBody>
          <a:bodyPr wrap="square">
            <a:noAutofit/>
          </a:bodyPr>
          <a:lstStyle/>
          <a:p>
            <a:r>
              <a:rPr lang="en-US" sz="4400" b="1" dirty="0">
                <a:solidFill>
                  <a:srgbClr val="0A2342"/>
                </a:solidFill>
                <a:latin typeface="Times New Roman" panose="02020603050405020304" pitchFamily="18" charset="0"/>
                <a:cs typeface="Times New Roman" panose="02020603050405020304" pitchFamily="18" charset="0"/>
              </a:rPr>
              <a:t>Discussion</a:t>
            </a:r>
            <a:endParaRPr lang="en-US" sz="3600" b="1" dirty="0">
              <a:solidFill>
                <a:srgbClr val="0A2342"/>
              </a:solidFill>
              <a:latin typeface="Times New Roman" panose="02020603050405020304" pitchFamily="18" charset="0"/>
              <a:cs typeface="Times New Roman" panose="02020603050405020304" pitchFamily="18" charset="0"/>
            </a:endParaRPr>
          </a:p>
        </p:txBody>
      </p:sp>
      <p:sp>
        <p:nvSpPr>
          <p:cNvPr id="53" name="DiscBody"/>
          <p:cNvSpPr txBox="1"/>
          <p:nvPr/>
        </p:nvSpPr>
        <p:spPr>
          <a:xfrm>
            <a:off x="29243545" y="8925569"/>
            <a:ext cx="14481634" cy="13061240"/>
          </a:xfrm>
          <a:prstGeom prst="rect">
            <a:avLst/>
          </a:prstGeom>
          <a:noFill/>
        </p:spPr>
        <p:txBody>
          <a:bodyPr wrap="square">
            <a:noAutofit/>
          </a:bodyPr>
          <a:lstStyle/>
          <a:p>
            <a:pPr marL="342900" indent="-342900">
              <a:lnSpc>
                <a:spcPct val="15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All three kernels achieved approximately 65–67% accuracy. On a balanced dataset, a naive model only reaches ~50%, so these results represent genuine predictive power.</a:t>
            </a:r>
          </a:p>
          <a:p>
            <a:pPr marL="342900" indent="-342900">
              <a:lnSpc>
                <a:spcPct val="15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The radial kernel performed best, suggesting the Age and BMI vs diabetes relationship is non-linear.</a:t>
            </a:r>
          </a:p>
          <a:p>
            <a:pPr marL="342900" indent="-342900">
              <a:lnSpc>
                <a:spcPct val="15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This is also supported by the sensitivity test where the radial kernel achieved the highest sensitivity, correctly identifying 66.8% of diabetic cases compared to 61.2% for linear and 60.7% for polynomial.</a:t>
            </a:r>
          </a:p>
          <a:p>
            <a:pPr marL="342900" indent="-342900">
              <a:lnSpc>
                <a:spcPct val="15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The small difference between the kernels (only about 1.5%) suggests that switching to a more complex SVM doesn’t really help. The limitation is in the predictors themselves, not the model. </a:t>
            </a:r>
          </a:p>
          <a:p>
            <a:pPr marL="342900" indent="-342900">
              <a:lnSpc>
                <a:spcPct val="15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The decision boundary plots also make the story clearer: the separating line tilts in a way that shows younger adults with higher BMI are more likely to have diabetes, while older adults with lower BMI tend not to. That pattern actually lines up with what we know clinically, in younger populations, Type 2 diabetes often shows up in individuals with higher body weight, whereas older adults without obesity are less likely to have it.</a:t>
            </a:r>
          </a:p>
          <a:p>
            <a:pPr marL="342900" indent="-342900">
              <a:lnSpc>
                <a:spcPct val="15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Physical activity (continuous minutes) contributed meaningful signal, more than binary flags would have. Dose matters.</a:t>
            </a:r>
          </a:p>
          <a:p>
            <a:pPr marL="342900" indent="-342900">
              <a:lnSpc>
                <a:spcPct val="150000"/>
              </a:lnSpc>
              <a:buFont typeface="Arial"/>
              <a:buChar char="●"/>
            </a:pPr>
            <a:r>
              <a:rPr lang="en-US" sz="2800" b="1" dirty="0">
                <a:solidFill>
                  <a:srgbClr val="02C39A"/>
                </a:solidFill>
                <a:latin typeface="Times New Roman" panose="02020603050405020304" pitchFamily="18" charset="0"/>
                <a:cs typeface="Times New Roman" panose="02020603050405020304" pitchFamily="18" charset="0"/>
              </a:rPr>
              <a:t>Limitations: </a:t>
            </a:r>
            <a:r>
              <a:rPr lang="en-US" sz="2800" dirty="0">
                <a:solidFill>
                  <a:srgbClr val="1A1A2E"/>
                </a:solidFill>
                <a:latin typeface="Times New Roman" panose="02020603050405020304" pitchFamily="18" charset="0"/>
                <a:cs typeface="Times New Roman" panose="02020603050405020304" pitchFamily="18" charset="0"/>
              </a:rPr>
              <a:t>Downsampling discards a large portion of the majority-class data, which reduce model stability. The ~33% test error also suggests these 7 behavioral/demographic variables alone are insufficient to separate the classes. Age and BMI are the strongest individual predictors, supported by the diagonal decision boundary in the Age × BMI plots above, consistent with established risk factors (ADA, Diabetes Care, 2023). Physical activity and cardiovascular history contribute additional information</a:t>
            </a:r>
          </a:p>
        </p:txBody>
      </p:sp>
      <p:sp>
        <p:nvSpPr>
          <p:cNvPr id="54" name="ConcHeader"/>
          <p:cNvSpPr txBox="1"/>
          <p:nvPr/>
        </p:nvSpPr>
        <p:spPr>
          <a:xfrm>
            <a:off x="29207255" y="23898941"/>
            <a:ext cx="9906000" cy="685800"/>
          </a:xfrm>
          <a:prstGeom prst="rect">
            <a:avLst/>
          </a:prstGeom>
          <a:noFill/>
        </p:spPr>
        <p:txBody>
          <a:bodyPr wrap="square">
            <a:noAutofit/>
          </a:bodyPr>
          <a:lstStyle/>
          <a:p>
            <a:r>
              <a:rPr lang="en-US" sz="4400" b="1" dirty="0">
                <a:solidFill>
                  <a:srgbClr val="0A2342"/>
                </a:solidFill>
                <a:latin typeface="Times New Roman" panose="02020603050405020304" pitchFamily="18" charset="0"/>
                <a:cs typeface="Times New Roman" panose="02020603050405020304" pitchFamily="18" charset="0"/>
              </a:rPr>
              <a:t>Conclusions</a:t>
            </a:r>
            <a:endParaRPr lang="en-US" sz="3600" b="1" dirty="0">
              <a:solidFill>
                <a:srgbClr val="0A2342"/>
              </a:solidFill>
              <a:latin typeface="Times New Roman" panose="02020603050405020304" pitchFamily="18" charset="0"/>
              <a:cs typeface="Times New Roman" panose="02020603050405020304" pitchFamily="18" charset="0"/>
            </a:endParaRPr>
          </a:p>
        </p:txBody>
      </p:sp>
      <p:sp>
        <p:nvSpPr>
          <p:cNvPr id="55" name="ConcBody"/>
          <p:cNvSpPr txBox="1"/>
          <p:nvPr/>
        </p:nvSpPr>
        <p:spPr>
          <a:xfrm>
            <a:off x="29207255" y="24837287"/>
            <a:ext cx="14481634" cy="4564542"/>
          </a:xfrm>
          <a:prstGeom prst="rect">
            <a:avLst/>
          </a:prstGeom>
          <a:noFill/>
        </p:spPr>
        <p:txBody>
          <a:bodyPr wrap="square">
            <a:noAutofit/>
          </a:bodyPr>
          <a:lstStyle/>
          <a:p>
            <a:pPr marL="342900" indent="-342900">
              <a:lnSpc>
                <a:spcPct val="13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Demographic and behavioral survey data carry meaningful predictive signal for diabetes, even without clinical measurements.</a:t>
            </a:r>
          </a:p>
          <a:p>
            <a:pPr marL="342900" indent="-342900">
              <a:lnSpc>
                <a:spcPct val="13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Age and BMI are the strongest individual predictors, but physical activity and cardiovascular history contribute additional information.</a:t>
            </a:r>
          </a:p>
          <a:p>
            <a:pPr marL="342900" indent="-342900">
              <a:lnSpc>
                <a:spcPct val="130000"/>
              </a:lnSpc>
              <a:spcAft>
                <a:spcPts val="300"/>
              </a:spcAft>
              <a:buFont typeface="Arial"/>
              <a:buChar char="●"/>
            </a:pPr>
            <a:r>
              <a:rPr lang="en-US" sz="2800" b="1" dirty="0">
                <a:solidFill>
                  <a:srgbClr val="02C39A"/>
                </a:solidFill>
                <a:latin typeface="Times New Roman" panose="02020603050405020304" pitchFamily="18" charset="0"/>
                <a:cs typeface="Times New Roman" panose="02020603050405020304" pitchFamily="18" charset="0"/>
              </a:rPr>
              <a:t>Policy: </a:t>
            </a:r>
            <a:r>
              <a:rPr lang="en-US" sz="2800" dirty="0">
                <a:solidFill>
                  <a:srgbClr val="1A1A2E"/>
                </a:solidFill>
                <a:latin typeface="Times New Roman" panose="02020603050405020304" pitchFamily="18" charset="0"/>
                <a:cs typeface="Times New Roman" panose="02020603050405020304" pitchFamily="18" charset="0"/>
              </a:rPr>
              <a:t>Prevention programs targeting adults 40+ should prioritize weight management and sustained physical activity, especially for individuals already showing elevated BMI.</a:t>
            </a:r>
          </a:p>
          <a:p>
            <a:pPr marL="342900" indent="-342900">
              <a:lnSpc>
                <a:spcPct val="130000"/>
              </a:lnSpc>
              <a:buFont typeface="Arial"/>
              <a:buChar char="●"/>
            </a:pPr>
            <a:r>
              <a:rPr lang="en-US" sz="2800" b="1" dirty="0">
                <a:solidFill>
                  <a:srgbClr val="02C39A"/>
                </a:solidFill>
                <a:latin typeface="Times New Roman" panose="02020603050405020304" pitchFamily="18" charset="0"/>
                <a:cs typeface="Times New Roman" panose="02020603050405020304" pitchFamily="18" charset="0"/>
              </a:rPr>
              <a:t>Future Work: </a:t>
            </a:r>
            <a:r>
              <a:rPr lang="en-US" sz="2800" dirty="0">
                <a:solidFill>
                  <a:srgbClr val="1A1A2E"/>
                </a:solidFill>
                <a:latin typeface="Times New Roman" panose="02020603050405020304" pitchFamily="18" charset="0"/>
                <a:cs typeface="Times New Roman" panose="02020603050405020304" pitchFamily="18" charset="0"/>
              </a:rPr>
              <a:t>Add dietary variables from NHIS; apply cost-sensitive learning instead of downsampling; include clinical biomarkers if available.</a:t>
            </a:r>
          </a:p>
        </p:txBody>
      </p:sp>
      <p:sp>
        <p:nvSpPr>
          <p:cNvPr id="7" name="MethodBody"/>
          <p:cNvSpPr txBox="1"/>
          <p:nvPr/>
        </p:nvSpPr>
        <p:spPr>
          <a:xfrm>
            <a:off x="56242" y="23655224"/>
            <a:ext cx="15256035" cy="8564357"/>
          </a:xfrm>
          <a:prstGeom prst="rect">
            <a:avLst/>
          </a:prstGeom>
          <a:noFill/>
        </p:spPr>
        <p:txBody>
          <a:bodyPr wrap="square">
            <a:noAutofit/>
          </a:bodyPr>
          <a:lstStyle/>
          <a:p>
            <a:pPr>
              <a:lnSpc>
                <a:spcPct val="150000"/>
              </a:lnSpc>
              <a:spcAft>
                <a:spcPts val="150"/>
              </a:spcAft>
            </a:pPr>
            <a:r>
              <a:rPr lang="en-US" sz="3200" b="1" dirty="0">
                <a:solidFill>
                  <a:srgbClr val="02C39A"/>
                </a:solidFill>
                <a:latin typeface="Times New Roman" panose="02020603050405020304" pitchFamily="18" charset="0"/>
                <a:cs typeface="Times New Roman" panose="02020603050405020304" pitchFamily="18" charset="0"/>
              </a:rPr>
              <a:t>Data &amp; Predictors</a:t>
            </a:r>
          </a:p>
          <a:p>
            <a:pPr marL="342900" indent="-342900">
              <a:lnSpc>
                <a:spcPct val="150000"/>
              </a:lnSpc>
              <a:spcAft>
                <a:spcPts val="15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NHIS 2022 filtered to adults 40+ (higher-risk group)</a:t>
            </a:r>
          </a:p>
          <a:p>
            <a:pPr marL="342900" indent="-342900">
              <a:lnSpc>
                <a:spcPct val="150000"/>
              </a:lnSpc>
              <a:spcAft>
                <a:spcPts val="15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7 predictors: Age, BMI, Smoking, Vigorous activity (min/day), Moderate activity (min/day), Heart disease history, Stroke history</a:t>
            </a:r>
          </a:p>
          <a:p>
            <a:pPr marL="342900" indent="-342900">
              <a:lnSpc>
                <a:spcPct val="15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Activity kept as continuous minutes to preserves dose-response signal for the SVM kernel</a:t>
            </a:r>
          </a:p>
          <a:p>
            <a:pPr>
              <a:lnSpc>
                <a:spcPct val="150000"/>
              </a:lnSpc>
              <a:spcAft>
                <a:spcPts val="150"/>
              </a:spcAft>
            </a:pPr>
            <a:r>
              <a:rPr lang="en-US" sz="3200" b="1" dirty="0">
                <a:solidFill>
                  <a:srgbClr val="02C39A"/>
                </a:solidFill>
                <a:latin typeface="Times New Roman" panose="02020603050405020304" pitchFamily="18" charset="0"/>
                <a:cs typeface="Times New Roman" panose="02020603050405020304" pitchFamily="18" charset="0"/>
              </a:rPr>
              <a:t>Class Imbalance Fix</a:t>
            </a:r>
          </a:p>
          <a:p>
            <a:pPr marL="342900" indent="-342900">
              <a:lnSpc>
                <a:spcPct val="150000"/>
              </a:lnSpc>
              <a:spcAft>
                <a:spcPts val="15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Raw data ~75% non-diabetic; naive models predicted no diabetes cases at all</a:t>
            </a:r>
          </a:p>
          <a:p>
            <a:pPr marL="342900" indent="-342900">
              <a:lnSpc>
                <a:spcPct val="150000"/>
              </a:lnSpc>
              <a:spcAft>
                <a:spcPts val="3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Majority class downsampled to match minority, yielding a balanced 50/50 dataset</a:t>
            </a:r>
          </a:p>
          <a:p>
            <a:pPr>
              <a:lnSpc>
                <a:spcPct val="150000"/>
              </a:lnSpc>
              <a:spcAft>
                <a:spcPts val="150"/>
              </a:spcAft>
            </a:pPr>
            <a:r>
              <a:rPr lang="en-US" sz="3200" b="1" dirty="0">
                <a:solidFill>
                  <a:srgbClr val="02C39A"/>
                </a:solidFill>
                <a:latin typeface="Times New Roman" panose="02020603050405020304" pitchFamily="18" charset="0"/>
                <a:cs typeface="Times New Roman" panose="02020603050405020304" pitchFamily="18" charset="0"/>
              </a:rPr>
              <a:t>Tuning (3-fold CV, 80/20 split)</a:t>
            </a:r>
          </a:p>
          <a:p>
            <a:pPr marL="342900" indent="-342900">
              <a:lnSpc>
                <a:spcPct val="150000"/>
              </a:lnSpc>
              <a:spcAft>
                <a:spcPts val="1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Linear: cost ∈ {0.001, 0.01, 0.1, 1, 10}</a:t>
            </a:r>
          </a:p>
          <a:p>
            <a:pPr marL="342900" indent="-342900">
              <a:lnSpc>
                <a:spcPct val="150000"/>
              </a:lnSpc>
              <a:spcAft>
                <a:spcPts val="100"/>
              </a:spcAft>
              <a:buFont typeface="Arial"/>
              <a:buChar char="●"/>
            </a:pPr>
            <a:r>
              <a:rPr lang="en-US" sz="2800" dirty="0">
                <a:solidFill>
                  <a:srgbClr val="1A1A2E"/>
                </a:solidFill>
                <a:latin typeface="Times New Roman" panose="02020603050405020304" pitchFamily="18" charset="0"/>
                <a:cs typeface="Times New Roman" panose="02020603050405020304" pitchFamily="18" charset="0"/>
              </a:rPr>
              <a:t>Radial: γ ∈ {0.0001–0.1} × cost ∈ {1–1000}</a:t>
            </a:r>
          </a:p>
          <a:p>
            <a:pPr marL="342900" indent="-342900">
              <a:lnSpc>
                <a:spcPct val="150000"/>
              </a:lnSpc>
              <a:buFont typeface="Arial"/>
              <a:buChar char="●"/>
            </a:pPr>
            <a:r>
              <a:rPr lang="en-US" sz="2800" dirty="0">
                <a:solidFill>
                  <a:srgbClr val="1A1A2E"/>
                </a:solidFill>
                <a:latin typeface="Times New Roman" panose="02020603050405020304" pitchFamily="18" charset="0"/>
                <a:cs typeface="Times New Roman" panose="02020603050405020304" pitchFamily="18" charset="0"/>
              </a:rPr>
              <a:t>Polynomial: degree ∈ {2,3,4} × cost ∈ {0.1–100}</a:t>
            </a:r>
          </a:p>
        </p:txBody>
      </p:sp>
      <p:pic>
        <p:nvPicPr>
          <p:cNvPr id="16" name="Picture 15">
            <a:extLst>
              <a:ext uri="{FF2B5EF4-FFF2-40B4-BE49-F238E27FC236}">
                <a16:creationId xmlns:a16="http://schemas.microsoft.com/office/drawing/2014/main" id="{E5B6C71B-7FD3-A64D-9FBE-FACF01B9E829}"/>
              </a:ext>
            </a:extLst>
          </p:cNvPr>
          <p:cNvPicPr>
            <a:picLocks noChangeAspect="1"/>
          </p:cNvPicPr>
          <p:nvPr/>
        </p:nvPicPr>
        <p:blipFill>
          <a:blip r:embed="rId4"/>
          <a:stretch>
            <a:fillRect/>
          </a:stretch>
        </p:blipFill>
        <p:spPr>
          <a:xfrm>
            <a:off x="17128773" y="11588077"/>
            <a:ext cx="9633654" cy="5953497"/>
          </a:xfrm>
          <a:prstGeom prst="rect">
            <a:avLst/>
          </a:prstGeom>
        </p:spPr>
      </p:pic>
      <p:sp>
        <p:nvSpPr>
          <p:cNvPr id="17" name="Fig1Caption">
            <a:extLst>
              <a:ext uri="{FF2B5EF4-FFF2-40B4-BE49-F238E27FC236}">
                <a16:creationId xmlns:a16="http://schemas.microsoft.com/office/drawing/2014/main" id="{77374AA9-8334-03CF-C66A-02DA2756CAE8}"/>
              </a:ext>
            </a:extLst>
          </p:cNvPr>
          <p:cNvSpPr txBox="1"/>
          <p:nvPr/>
        </p:nvSpPr>
        <p:spPr>
          <a:xfrm>
            <a:off x="18085479" y="17285966"/>
            <a:ext cx="9906000" cy="685800"/>
          </a:xfrm>
          <a:prstGeom prst="rect">
            <a:avLst/>
          </a:prstGeom>
          <a:noFill/>
        </p:spPr>
        <p:txBody>
          <a:bodyPr wrap="square">
            <a:noAutofit/>
          </a:bodyPr>
          <a:lstStyle/>
          <a:p>
            <a:r>
              <a:rPr lang="en-US" sz="1800" i="1" dirty="0">
                <a:solidFill>
                  <a:srgbClr val="555555"/>
                </a:solidFill>
                <a:latin typeface="Times New Roman" panose="02020603050405020304" pitchFamily="18" charset="0"/>
                <a:cs typeface="Times New Roman" panose="02020603050405020304" pitchFamily="18" charset="0"/>
              </a:rPr>
              <a:t>Figure </a:t>
            </a:r>
            <a:r>
              <a:rPr lang="en-US" i="1" dirty="0">
                <a:solidFill>
                  <a:srgbClr val="555555"/>
                </a:solidFill>
                <a:latin typeface="Times New Roman" panose="02020603050405020304" pitchFamily="18" charset="0"/>
                <a:cs typeface="Times New Roman" panose="02020603050405020304" pitchFamily="18" charset="0"/>
              </a:rPr>
              <a:t>2</a:t>
            </a:r>
            <a:r>
              <a:rPr lang="en-US" sz="1800" i="1" dirty="0">
                <a:solidFill>
                  <a:srgbClr val="555555"/>
                </a:solidFill>
                <a:latin typeface="Times New Roman" panose="02020603050405020304" pitchFamily="18" charset="0"/>
                <a:cs typeface="Times New Roman" panose="02020603050405020304" pitchFamily="18" charset="0"/>
              </a:rPr>
              <a:t>. </a:t>
            </a:r>
            <a:r>
              <a:rPr lang="en-US" i="1" dirty="0">
                <a:solidFill>
                  <a:srgbClr val="555555"/>
                </a:solidFill>
                <a:latin typeface="Times New Roman" panose="02020603050405020304" pitchFamily="18" charset="0"/>
                <a:cs typeface="Times New Roman" panose="02020603050405020304" pitchFamily="18" charset="0"/>
              </a:rPr>
              <a:t>Radial Kernel: Age vs BMI. 0 for non-diabetic, 1 for diabetic.</a:t>
            </a:r>
          </a:p>
        </p:txBody>
      </p:sp>
      <p:pic>
        <p:nvPicPr>
          <p:cNvPr id="19" name="Picture 18">
            <a:extLst>
              <a:ext uri="{FF2B5EF4-FFF2-40B4-BE49-F238E27FC236}">
                <a16:creationId xmlns:a16="http://schemas.microsoft.com/office/drawing/2014/main" id="{F023D2AE-2271-3486-1869-8BEC55660DEF}"/>
              </a:ext>
            </a:extLst>
          </p:cNvPr>
          <p:cNvPicPr>
            <a:picLocks noChangeAspect="1"/>
          </p:cNvPicPr>
          <p:nvPr/>
        </p:nvPicPr>
        <p:blipFill>
          <a:blip r:embed="rId5"/>
          <a:stretch>
            <a:fillRect/>
          </a:stretch>
        </p:blipFill>
        <p:spPr>
          <a:xfrm>
            <a:off x="17107893" y="17759822"/>
            <a:ext cx="9675413" cy="5979303"/>
          </a:xfrm>
          <a:prstGeom prst="rect">
            <a:avLst/>
          </a:prstGeom>
        </p:spPr>
      </p:pic>
      <p:sp>
        <p:nvSpPr>
          <p:cNvPr id="25" name="Fig1Caption">
            <a:extLst>
              <a:ext uri="{FF2B5EF4-FFF2-40B4-BE49-F238E27FC236}">
                <a16:creationId xmlns:a16="http://schemas.microsoft.com/office/drawing/2014/main" id="{4F92E479-7CD8-67E9-0B6E-2387FB05B2A9}"/>
              </a:ext>
            </a:extLst>
          </p:cNvPr>
          <p:cNvSpPr txBox="1"/>
          <p:nvPr/>
        </p:nvSpPr>
        <p:spPr>
          <a:xfrm>
            <a:off x="18085479" y="23957373"/>
            <a:ext cx="9906000" cy="685800"/>
          </a:xfrm>
          <a:prstGeom prst="rect">
            <a:avLst/>
          </a:prstGeom>
          <a:noFill/>
        </p:spPr>
        <p:txBody>
          <a:bodyPr wrap="square">
            <a:noAutofit/>
          </a:bodyPr>
          <a:lstStyle/>
          <a:p>
            <a:r>
              <a:rPr lang="en-US" sz="1800" i="1" dirty="0">
                <a:solidFill>
                  <a:srgbClr val="555555"/>
                </a:solidFill>
                <a:latin typeface="Times New Roman" panose="02020603050405020304" pitchFamily="18" charset="0"/>
                <a:cs typeface="Times New Roman" panose="02020603050405020304" pitchFamily="18" charset="0"/>
              </a:rPr>
              <a:t>Figure 3. Linear</a:t>
            </a:r>
            <a:r>
              <a:rPr lang="en-US" i="1" dirty="0">
                <a:solidFill>
                  <a:srgbClr val="555555"/>
                </a:solidFill>
                <a:latin typeface="Times New Roman" panose="02020603050405020304" pitchFamily="18" charset="0"/>
                <a:cs typeface="Times New Roman" panose="02020603050405020304" pitchFamily="18" charset="0"/>
              </a:rPr>
              <a:t> Kernel: Age vs BMI. 0 for non-diabetic, 1 for diabetic.</a:t>
            </a:r>
          </a:p>
        </p:txBody>
      </p:sp>
      <p:pic>
        <p:nvPicPr>
          <p:cNvPr id="28" name="Picture 27">
            <a:extLst>
              <a:ext uri="{FF2B5EF4-FFF2-40B4-BE49-F238E27FC236}">
                <a16:creationId xmlns:a16="http://schemas.microsoft.com/office/drawing/2014/main" id="{094F28FB-0BF6-E7B8-2587-E24E25A4A948}"/>
              </a:ext>
            </a:extLst>
          </p:cNvPr>
          <p:cNvPicPr>
            <a:picLocks noChangeAspect="1"/>
          </p:cNvPicPr>
          <p:nvPr/>
        </p:nvPicPr>
        <p:blipFill>
          <a:blip r:embed="rId6"/>
          <a:stretch>
            <a:fillRect/>
          </a:stretch>
        </p:blipFill>
        <p:spPr>
          <a:xfrm>
            <a:off x="17216990" y="24300273"/>
            <a:ext cx="9696085" cy="5992078"/>
          </a:xfrm>
          <a:prstGeom prst="rect">
            <a:avLst/>
          </a:prstGeom>
        </p:spPr>
      </p:pic>
      <p:sp>
        <p:nvSpPr>
          <p:cNvPr id="29" name="Fig1Caption">
            <a:extLst>
              <a:ext uri="{FF2B5EF4-FFF2-40B4-BE49-F238E27FC236}">
                <a16:creationId xmlns:a16="http://schemas.microsoft.com/office/drawing/2014/main" id="{2A1A3FFD-B893-77F5-BD3A-4341B954A141}"/>
              </a:ext>
            </a:extLst>
          </p:cNvPr>
          <p:cNvSpPr txBox="1"/>
          <p:nvPr/>
        </p:nvSpPr>
        <p:spPr>
          <a:xfrm>
            <a:off x="18085479" y="29984672"/>
            <a:ext cx="9906000" cy="685800"/>
          </a:xfrm>
          <a:prstGeom prst="rect">
            <a:avLst/>
          </a:prstGeom>
          <a:noFill/>
        </p:spPr>
        <p:txBody>
          <a:bodyPr wrap="square">
            <a:noAutofit/>
          </a:bodyPr>
          <a:lstStyle/>
          <a:p>
            <a:r>
              <a:rPr lang="en-US" sz="1800" i="1" dirty="0">
                <a:solidFill>
                  <a:srgbClr val="555555"/>
                </a:solidFill>
                <a:latin typeface="Times New Roman" panose="02020603050405020304" pitchFamily="18" charset="0"/>
                <a:cs typeface="Times New Roman" panose="02020603050405020304" pitchFamily="18" charset="0"/>
              </a:rPr>
              <a:t>Figure </a:t>
            </a:r>
            <a:r>
              <a:rPr lang="en-US" i="1" dirty="0">
                <a:solidFill>
                  <a:srgbClr val="555555"/>
                </a:solidFill>
                <a:latin typeface="Times New Roman" panose="02020603050405020304" pitchFamily="18" charset="0"/>
                <a:cs typeface="Times New Roman" panose="02020603050405020304" pitchFamily="18" charset="0"/>
              </a:rPr>
              <a:t>4</a:t>
            </a:r>
            <a:r>
              <a:rPr lang="en-US" sz="1800" i="1" dirty="0">
                <a:solidFill>
                  <a:srgbClr val="555555"/>
                </a:solidFill>
                <a:latin typeface="Times New Roman" panose="02020603050405020304" pitchFamily="18" charset="0"/>
                <a:cs typeface="Times New Roman" panose="02020603050405020304" pitchFamily="18" charset="0"/>
              </a:rPr>
              <a:t>. </a:t>
            </a:r>
            <a:r>
              <a:rPr lang="en-US" i="1" dirty="0">
                <a:solidFill>
                  <a:srgbClr val="555555"/>
                </a:solidFill>
                <a:latin typeface="Times New Roman" panose="02020603050405020304" pitchFamily="18" charset="0"/>
                <a:cs typeface="Times New Roman" panose="02020603050405020304" pitchFamily="18" charset="0"/>
              </a:rPr>
              <a:t>Polynomial Kernel: Age vs BMI. 0 for non-diabetic, 1 for diabetic.</a:t>
            </a:r>
          </a:p>
        </p:txBody>
      </p:sp>
      <p:grpSp>
        <p:nvGrpSpPr>
          <p:cNvPr id="9" name="Group 8">
            <a:extLst>
              <a:ext uri="{FF2B5EF4-FFF2-40B4-BE49-F238E27FC236}">
                <a16:creationId xmlns:a16="http://schemas.microsoft.com/office/drawing/2014/main" id="{E80E1556-0742-8811-055E-55D2135146CE}"/>
              </a:ext>
            </a:extLst>
          </p:cNvPr>
          <p:cNvGrpSpPr/>
          <p:nvPr/>
        </p:nvGrpSpPr>
        <p:grpSpPr>
          <a:xfrm>
            <a:off x="29421524" y="3908081"/>
            <a:ext cx="14012475" cy="3314746"/>
            <a:chOff x="29421525" y="3908081"/>
            <a:chExt cx="9934800" cy="2018981"/>
          </a:xfrm>
        </p:grpSpPr>
        <p:sp>
          <p:nvSpPr>
            <p:cNvPr id="38" name="TableHeader"/>
            <p:cNvSpPr>
              <a:spLocks noChangeAspect="1"/>
            </p:cNvSpPr>
            <p:nvPr/>
          </p:nvSpPr>
          <p:spPr>
            <a:xfrm>
              <a:off x="29421525" y="3908081"/>
              <a:ext cx="9906000" cy="571500"/>
            </a:xfrm>
            <a:prstGeom prst="rect">
              <a:avLst/>
            </a:prstGeom>
            <a:solidFill>
              <a:srgbClr val="0A2342"/>
            </a:solidFill>
            <a:ln>
              <a:noFill/>
            </a:ln>
          </p:spPr>
          <p:txBody>
            <a:bodyPr wrap="square" lIns="114300" tIns="45720" rIns="114300" bIns="45720" anchor="ctr">
              <a:noAutofit/>
            </a:bodyPr>
            <a:lstStyle/>
            <a:p>
              <a:r>
                <a:rPr lang="en-US" sz="3200" b="1" dirty="0">
                  <a:solidFill>
                    <a:srgbClr val="FFFFFF"/>
                  </a:solidFill>
                  <a:latin typeface="Times New Roman" panose="02020603050405020304" pitchFamily="18" charset="0"/>
                  <a:cs typeface="Times New Roman" panose="02020603050405020304" pitchFamily="18" charset="0"/>
                </a:rPr>
                <a:t>Kernel         Train Error 			Test Error      		Accuracy		Sensitivity</a:t>
              </a:r>
            </a:p>
          </p:txBody>
        </p:sp>
        <p:sp>
          <p:nvSpPr>
            <p:cNvPr id="40" name="TableRow2"/>
            <p:cNvSpPr txBox="1"/>
            <p:nvPr/>
          </p:nvSpPr>
          <p:spPr>
            <a:xfrm>
              <a:off x="29421525" y="4965227"/>
              <a:ext cx="9906000" cy="457200"/>
            </a:xfrm>
            <a:prstGeom prst="rect">
              <a:avLst/>
            </a:prstGeom>
            <a:solidFill>
              <a:srgbClr val="FFFFFF"/>
            </a:solidFill>
            <a:ln>
              <a:noFill/>
            </a:ln>
          </p:spPr>
          <p:txBody>
            <a:bodyPr wrap="square" lIns="114300" tIns="45720" rIns="114300" bIns="45720" anchor="ctr">
              <a:noAutofit/>
            </a:bodyPr>
            <a:lstStyle/>
            <a:p>
              <a:r>
                <a:rPr lang="en-US" sz="3200" dirty="0">
                  <a:solidFill>
                    <a:srgbClr val="1A1A2E"/>
                  </a:solidFill>
                  <a:latin typeface="Times New Roman" panose="02020603050405020304" pitchFamily="18" charset="0"/>
                  <a:cs typeface="Times New Roman" panose="02020603050405020304" pitchFamily="18" charset="0"/>
                </a:rPr>
                <a:t>Polynomial         31.7%				34.9%              		  65.1%               60.7%</a:t>
              </a:r>
            </a:p>
          </p:txBody>
        </p:sp>
        <p:sp>
          <p:nvSpPr>
            <p:cNvPr id="41" name="TableRow3"/>
            <p:cNvSpPr txBox="1"/>
            <p:nvPr/>
          </p:nvSpPr>
          <p:spPr>
            <a:xfrm>
              <a:off x="29450325" y="5469862"/>
              <a:ext cx="9906000" cy="457200"/>
            </a:xfrm>
            <a:prstGeom prst="rect">
              <a:avLst/>
            </a:prstGeom>
            <a:solidFill>
              <a:srgbClr val="02C39A"/>
            </a:solidFill>
            <a:ln>
              <a:noFill/>
            </a:ln>
          </p:spPr>
          <p:txBody>
            <a:bodyPr wrap="square" lIns="114300" tIns="45720" rIns="114300" bIns="45720" anchor="ctr">
              <a:noAutofit/>
            </a:bodyPr>
            <a:lstStyle/>
            <a:p>
              <a:r>
                <a:rPr lang="en-US" sz="3200" b="1" dirty="0">
                  <a:solidFill>
                    <a:srgbClr val="0A2342"/>
                  </a:solidFill>
                  <a:latin typeface="Times New Roman" panose="02020603050405020304" pitchFamily="18" charset="0"/>
                  <a:cs typeface="Times New Roman" panose="02020603050405020304" pitchFamily="18" charset="0"/>
                </a:rPr>
                <a:t>Radial  ★         31.5%				33.3%              		  66.7%    			 66.8%</a:t>
              </a:r>
            </a:p>
          </p:txBody>
        </p:sp>
        <p:sp>
          <p:nvSpPr>
            <p:cNvPr id="39" name="TableRow1"/>
            <p:cNvSpPr txBox="1"/>
            <p:nvPr/>
          </p:nvSpPr>
          <p:spPr>
            <a:xfrm>
              <a:off x="29421525" y="4478981"/>
              <a:ext cx="9906000" cy="457200"/>
            </a:xfrm>
            <a:prstGeom prst="rect">
              <a:avLst/>
            </a:prstGeom>
            <a:solidFill>
              <a:srgbClr val="EAF4F4"/>
            </a:solidFill>
            <a:ln>
              <a:noFill/>
            </a:ln>
          </p:spPr>
          <p:txBody>
            <a:bodyPr wrap="square" lIns="114300" tIns="45720" rIns="114300" bIns="45720" anchor="ctr">
              <a:noAutofit/>
            </a:bodyPr>
            <a:lstStyle/>
            <a:p>
              <a:r>
                <a:rPr lang="en-US" sz="3200" dirty="0">
                  <a:solidFill>
                    <a:srgbClr val="1A1A2E"/>
                  </a:solidFill>
                  <a:latin typeface="Times New Roman" panose="02020603050405020304" pitchFamily="18" charset="0"/>
                  <a:cs typeface="Times New Roman" panose="02020603050405020304" pitchFamily="18" charset="0"/>
                </a:rPr>
                <a:t>Linear                	32.8%				34.8%              		  65.2%				61.2%</a:t>
              </a:r>
            </a:p>
          </p:txBody>
        </p:sp>
      </p:grpSp>
      <p:sp>
        <p:nvSpPr>
          <p:cNvPr id="5" name="FooterBg"/>
          <p:cNvSpPr>
            <a:spLocks noChangeAspect="1"/>
          </p:cNvSpPr>
          <p:nvPr/>
        </p:nvSpPr>
        <p:spPr>
          <a:xfrm>
            <a:off x="28758112" y="29985417"/>
            <a:ext cx="15133087" cy="2960683"/>
          </a:xfrm>
          <a:prstGeom prst="rect">
            <a:avLst/>
          </a:prstGeom>
          <a:solidFill>
            <a:srgbClr val="0A2342"/>
          </a:solidFill>
          <a:ln>
            <a:noFill/>
          </a:ln>
        </p:spPr>
        <p:txBody>
          <a:bodyPr/>
          <a:lstStyle/>
          <a:p>
            <a:endParaRPr>
              <a:latin typeface="Times New Roman" panose="02020603050405020304" pitchFamily="18" charset="0"/>
              <a:cs typeface="Times New Roman" panose="02020603050405020304" pitchFamily="18" charset="0"/>
            </a:endParaRPr>
          </a:p>
        </p:txBody>
      </p:sp>
      <p:sp>
        <p:nvSpPr>
          <p:cNvPr id="6" name="FooterRef"/>
          <p:cNvSpPr txBox="1"/>
          <p:nvPr/>
        </p:nvSpPr>
        <p:spPr>
          <a:xfrm>
            <a:off x="28872224" y="29947573"/>
            <a:ext cx="14991733" cy="2960682"/>
          </a:xfrm>
          <a:prstGeom prst="rect">
            <a:avLst/>
          </a:prstGeom>
          <a:noFill/>
        </p:spPr>
        <p:txBody>
          <a:bodyPr wrap="square" anchor="ctr">
            <a:noAutofit/>
          </a:bodyPr>
          <a:lstStyle/>
          <a:p>
            <a:pPr algn="l"/>
            <a:r>
              <a:rPr lang="en-US" sz="2000" b="1" dirty="0">
                <a:solidFill>
                  <a:srgbClr val="02C39A"/>
                </a:solidFill>
                <a:latin typeface="Times New Roman" panose="02020603050405020304" pitchFamily="18" charset="0"/>
                <a:cs typeface="Times New Roman" panose="02020603050405020304" pitchFamily="18" charset="0"/>
              </a:rPr>
              <a:t>Reference: </a:t>
            </a:r>
          </a:p>
          <a:p>
            <a:pPr algn="l"/>
            <a:r>
              <a:rPr lang="en-US" sz="2000" b="0" dirty="0">
                <a:solidFill>
                  <a:srgbClr val="FFFFFF"/>
                </a:solidFill>
                <a:latin typeface="Times New Roman" panose="02020603050405020304" pitchFamily="18" charset="0"/>
                <a:cs typeface="Times New Roman" panose="02020603050405020304" pitchFamily="18" charset="0"/>
              </a:rPr>
              <a:t>Blewett LA, Rivera Drew JA, King ML, Williams KCW. IPUMS Health Surveys: National Health Interview Survey, Version 7.3. Minneapolis, MN: IPUMS, 2023. </a:t>
            </a:r>
            <a:r>
              <a:rPr lang="en-US" sz="2000" b="0" dirty="0">
                <a:solidFill>
                  <a:srgbClr val="FFFFFF"/>
                </a:solidFill>
                <a:latin typeface="Times New Roman" panose="02020603050405020304" pitchFamily="18" charset="0"/>
                <a:cs typeface="Times New Roman" panose="02020603050405020304" pitchFamily="18" charset="0"/>
                <a:hlinkClick r:id="rId7"/>
              </a:rPr>
              <a:t>https://doi.org/10.18128/D070.V7.3</a:t>
            </a:r>
            <a:endParaRPr lang="en-US" sz="2000" b="0" dirty="0">
              <a:solidFill>
                <a:srgbClr val="FFFFFF"/>
              </a:solidFill>
              <a:latin typeface="Times New Roman" panose="02020603050405020304" pitchFamily="18" charset="0"/>
              <a:cs typeface="Times New Roman" panose="02020603050405020304" pitchFamily="18" charset="0"/>
            </a:endParaRPr>
          </a:p>
          <a:p>
            <a:r>
              <a:rPr lang="en-US" sz="2000" dirty="0">
                <a:solidFill>
                  <a:srgbClr val="FFFFFF"/>
                </a:solidFill>
                <a:latin typeface="Times New Roman" panose="02020603050405020304" pitchFamily="18" charset="0"/>
                <a:cs typeface="Times New Roman" panose="02020603050405020304" pitchFamily="18" charset="0"/>
              </a:rPr>
              <a:t>American Diabetes Association. (2023). Standards of Medical Care in Diabetes-2023. *Diabetes Care*, 46(Supplement 1). https://doi.org/10.2337/dc23-S001</a:t>
            </a:r>
            <a:endParaRPr lang="en-US" sz="2000" b="0" dirty="0">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283</TotalTime>
  <Words>1222</Words>
  <Application>Microsoft Office PowerPoint</Application>
  <PresentationFormat>Custom</PresentationFormat>
  <Paragraphs>60</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Gakwa</dc:creator>
  <cp:lastModifiedBy>John Gakwa</cp:lastModifiedBy>
  <cp:revision>3</cp:revision>
  <dcterms:created xsi:type="dcterms:W3CDTF">2026-04-26T06:57:29Z</dcterms:created>
  <dcterms:modified xsi:type="dcterms:W3CDTF">2026-05-07T01:23:06Z</dcterms:modified>
</cp:coreProperties>
</file>